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40233600" cy="40233600"/>
  <p:notesSz cx="6858000" cy="9144000"/>
  <p:defaultTextStyle>
    <a:defPPr>
      <a:defRPr lang="en-US"/>
    </a:defPPr>
    <a:lvl1pPr marL="0" algn="l" defTabSz="4598060" rtl="0" eaLnBrk="1" latinLnBrk="0" hangingPunct="1">
      <a:defRPr sz="9100" kern="1200">
        <a:solidFill>
          <a:schemeClr val="tx1"/>
        </a:solidFill>
        <a:latin typeface="+mn-lt"/>
        <a:ea typeface="+mn-ea"/>
        <a:cs typeface="+mn-cs"/>
      </a:defRPr>
    </a:lvl1pPr>
    <a:lvl2pPr marL="2299030" algn="l" defTabSz="4598060" rtl="0" eaLnBrk="1" latinLnBrk="0" hangingPunct="1">
      <a:defRPr sz="9100" kern="1200">
        <a:solidFill>
          <a:schemeClr val="tx1"/>
        </a:solidFill>
        <a:latin typeface="+mn-lt"/>
        <a:ea typeface="+mn-ea"/>
        <a:cs typeface="+mn-cs"/>
      </a:defRPr>
    </a:lvl2pPr>
    <a:lvl3pPr marL="4598060" algn="l" defTabSz="4598060" rtl="0" eaLnBrk="1" latinLnBrk="0" hangingPunct="1">
      <a:defRPr sz="9100" kern="1200">
        <a:solidFill>
          <a:schemeClr val="tx1"/>
        </a:solidFill>
        <a:latin typeface="+mn-lt"/>
        <a:ea typeface="+mn-ea"/>
        <a:cs typeface="+mn-cs"/>
      </a:defRPr>
    </a:lvl3pPr>
    <a:lvl4pPr marL="6897091" algn="l" defTabSz="4598060" rtl="0" eaLnBrk="1" latinLnBrk="0" hangingPunct="1">
      <a:defRPr sz="9100" kern="1200">
        <a:solidFill>
          <a:schemeClr val="tx1"/>
        </a:solidFill>
        <a:latin typeface="+mn-lt"/>
        <a:ea typeface="+mn-ea"/>
        <a:cs typeface="+mn-cs"/>
      </a:defRPr>
    </a:lvl4pPr>
    <a:lvl5pPr marL="9196121" algn="l" defTabSz="4598060" rtl="0" eaLnBrk="1" latinLnBrk="0" hangingPunct="1">
      <a:defRPr sz="9100" kern="1200">
        <a:solidFill>
          <a:schemeClr val="tx1"/>
        </a:solidFill>
        <a:latin typeface="+mn-lt"/>
        <a:ea typeface="+mn-ea"/>
        <a:cs typeface="+mn-cs"/>
      </a:defRPr>
    </a:lvl5pPr>
    <a:lvl6pPr marL="11495151" algn="l" defTabSz="4598060" rtl="0" eaLnBrk="1" latinLnBrk="0" hangingPunct="1">
      <a:defRPr sz="9100" kern="1200">
        <a:solidFill>
          <a:schemeClr val="tx1"/>
        </a:solidFill>
        <a:latin typeface="+mn-lt"/>
        <a:ea typeface="+mn-ea"/>
        <a:cs typeface="+mn-cs"/>
      </a:defRPr>
    </a:lvl6pPr>
    <a:lvl7pPr marL="13794181" algn="l" defTabSz="4598060" rtl="0" eaLnBrk="1" latinLnBrk="0" hangingPunct="1">
      <a:defRPr sz="9100" kern="1200">
        <a:solidFill>
          <a:schemeClr val="tx1"/>
        </a:solidFill>
        <a:latin typeface="+mn-lt"/>
        <a:ea typeface="+mn-ea"/>
        <a:cs typeface="+mn-cs"/>
      </a:defRPr>
    </a:lvl7pPr>
    <a:lvl8pPr marL="16093211" algn="l" defTabSz="4598060" rtl="0" eaLnBrk="1" latinLnBrk="0" hangingPunct="1">
      <a:defRPr sz="9100" kern="1200">
        <a:solidFill>
          <a:schemeClr val="tx1"/>
        </a:solidFill>
        <a:latin typeface="+mn-lt"/>
        <a:ea typeface="+mn-ea"/>
        <a:cs typeface="+mn-cs"/>
      </a:defRPr>
    </a:lvl8pPr>
    <a:lvl9pPr marL="18392242" algn="l" defTabSz="4598060" rtl="0" eaLnBrk="1" latinLnBrk="0" hangingPunct="1">
      <a:defRPr sz="9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672">
          <p15:clr>
            <a:srgbClr val="A4A3A4"/>
          </p15:clr>
        </p15:guide>
        <p15:guide id="2" pos="126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7" autoAdjust="0"/>
    <p:restoredTop sz="94676" autoAdjust="0"/>
  </p:normalViewPr>
  <p:slideViewPr>
    <p:cSldViewPr>
      <p:cViewPr>
        <p:scale>
          <a:sx n="25" d="100"/>
          <a:sy n="25" d="100"/>
        </p:scale>
        <p:origin x="2070" y="-3216"/>
      </p:cViewPr>
      <p:guideLst>
        <p:guide orient="horz" pos="12672"/>
        <p:guide pos="12672"/>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smtClean="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smtClean="0">
                <a:solidFill>
                  <a:srgbClr val="7F7F7F"/>
                </a:solidFill>
                <a:latin typeface="Calibri" pitchFamily="34" charset="0"/>
                <a:cs typeface="Calibri" panose="020F0502020204030204" pitchFamily="34" charset="0"/>
              </a:rPr>
              <a:t>This poster template is 44” high by 44” wide. It can be used to print any poster with a 1:1 aspect ratio.</a:t>
            </a:r>
          </a:p>
          <a:p>
            <a:pPr lvl="0">
              <a:spcBef>
                <a:spcPts val="0"/>
              </a:spcBef>
              <a:spcAft>
                <a:spcPts val="2200"/>
              </a:spcAft>
            </a:pPr>
            <a:r>
              <a:rPr lang="en-US" sz="8800" dirty="0" smtClean="0">
                <a:solidFill>
                  <a:srgbClr val="7F7F7F"/>
                </a:solidFill>
                <a:latin typeface="Calibri" pitchFamily="34" charset="0"/>
                <a:cs typeface="Calibri" panose="020F0502020204030204" pitchFamily="34" charset="0"/>
              </a:rPr>
              <a:t>Placeholders</a:t>
            </a:r>
            <a:r>
              <a:rPr sz="8800" dirty="0" smtClean="0">
                <a:solidFill>
                  <a:srgbClr val="7F7F7F"/>
                </a:solidFill>
                <a:latin typeface="Calibri" pitchFamily="34" charset="0"/>
                <a:cs typeface="Calibri" panose="020F0502020204030204" pitchFamily="34" charset="0"/>
              </a:rPr>
              <a:t>:</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smtClean="0">
                <a:solidFill>
                  <a:srgbClr val="7F7F7F"/>
                </a:solidFill>
                <a:latin typeface="Calibri" pitchFamily="34" charset="0"/>
                <a:cs typeface="Calibri" panose="020F0502020204030204" pitchFamily="34" charset="0"/>
              </a:rPr>
              <a:t>various elements included</a:t>
            </a:r>
            <a:r>
              <a:rPr sz="6000" dirty="0" smtClean="0">
                <a:solidFill>
                  <a:srgbClr val="7F7F7F"/>
                </a:solidFill>
                <a:latin typeface="Calibri" pitchFamily="34" charset="0"/>
                <a:cs typeface="Calibri" panose="020F0502020204030204" pitchFamily="34" charset="0"/>
              </a:rPr>
              <a:t> </a:t>
            </a:r>
            <a:r>
              <a:rPr sz="6000" dirty="0">
                <a:solidFill>
                  <a:srgbClr val="7F7F7F"/>
                </a:solidFill>
                <a:latin typeface="Calibri" pitchFamily="34" charset="0"/>
                <a:cs typeface="Calibri" panose="020F0502020204030204" pitchFamily="34" charset="0"/>
              </a:rPr>
              <a:t>in this </a:t>
            </a:r>
            <a:r>
              <a:rPr lang="en-US" sz="6000" dirty="0" smtClean="0">
                <a:solidFill>
                  <a:srgbClr val="7F7F7F"/>
                </a:solidFill>
                <a:latin typeface="Calibri" pitchFamily="34" charset="0"/>
                <a:cs typeface="Calibri" panose="020F0502020204030204" pitchFamily="34" charset="0"/>
              </a:rPr>
              <a:t>poster are ones</a:t>
            </a:r>
            <a:r>
              <a:rPr lang="en-US" sz="6000" baseline="0" dirty="0" smtClean="0">
                <a:solidFill>
                  <a:srgbClr val="7F7F7F"/>
                </a:solidFill>
                <a:latin typeface="Calibri" pitchFamily="34" charset="0"/>
                <a:cs typeface="Calibri" panose="020F0502020204030204" pitchFamily="34" charset="0"/>
              </a:rPr>
              <a:t> we often see in medical, research, and scientific posters.</a:t>
            </a:r>
            <a:r>
              <a:rPr sz="6000" dirty="0" smtClean="0">
                <a:solidFill>
                  <a:srgbClr val="7F7F7F"/>
                </a:solidFill>
                <a:latin typeface="Calibri" pitchFamily="34" charset="0"/>
                <a:cs typeface="Calibri" panose="020F0502020204030204" pitchFamily="34" charset="0"/>
              </a:rPr>
              <a:t> </a:t>
            </a:r>
            <a:r>
              <a:rPr lang="en-US" sz="6000" dirty="0" smtClean="0">
                <a:solidFill>
                  <a:srgbClr val="7F7F7F"/>
                </a:solidFill>
                <a:latin typeface="Calibri" pitchFamily="34" charset="0"/>
                <a:cs typeface="Calibri" panose="020F0502020204030204" pitchFamily="34" charset="0"/>
              </a:rPr>
              <a:t>Feel</a:t>
            </a:r>
            <a:r>
              <a:rPr lang="en-US" sz="6000" baseline="0" dirty="0" smtClean="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smtClean="0">
                <a:solidFill>
                  <a:srgbClr val="7F7F7F"/>
                </a:solidFill>
                <a:latin typeface="Calibri" pitchFamily="34" charset="0"/>
                <a:cs typeface="Calibri" panose="020F0502020204030204" pitchFamily="34" charset="0"/>
              </a:rPr>
              <a:t>Image</a:t>
            </a:r>
            <a:r>
              <a:rPr lang="en-US" sz="8800" baseline="0" dirty="0" smtClean="0">
                <a:solidFill>
                  <a:srgbClr val="7F7F7F"/>
                </a:solidFill>
                <a:latin typeface="Calibri" pitchFamily="34" charset="0"/>
                <a:cs typeface="Calibri" panose="020F0502020204030204" pitchFamily="34" charset="0"/>
              </a:rPr>
              <a:t> Quality</a:t>
            </a:r>
            <a:r>
              <a:rPr lang="en-US" sz="8800" dirty="0" smtClean="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smtClean="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smtClean="0">
                <a:solidFill>
                  <a:srgbClr val="7F7F7F"/>
                </a:solidFill>
                <a:latin typeface="Calibri" pitchFamily="34" charset="0"/>
                <a:cs typeface="Calibri" panose="020F0502020204030204" pitchFamily="34" charset="0"/>
              </a:rPr>
              <a:t>Insert, Picture</a:t>
            </a:r>
            <a:r>
              <a:rPr lang="en-US" sz="6000" dirty="0" smtClean="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smtClean="0">
                <a:solidFill>
                  <a:srgbClr val="7F7F7F"/>
                </a:solidFill>
                <a:latin typeface="Calibri" pitchFamily="34" charset="0"/>
                <a:cs typeface="Calibri" panose="020F0502020204030204" pitchFamily="34" charset="0"/>
              </a:rPr>
              <a:t>150-200 pixels per inch in their final printed size</a:t>
            </a:r>
            <a:r>
              <a:rPr lang="en-US" sz="6000" dirty="0" smtClean="0">
                <a:solidFill>
                  <a:srgbClr val="7F7F7F"/>
                </a:solidFill>
                <a:latin typeface="Calibri" pitchFamily="34" charset="0"/>
                <a:cs typeface="Calibri" panose="020F0502020204030204" pitchFamily="34" charset="0"/>
              </a:rPr>
              <a:t>. For instance, a 1600 x 1200 pixel</a:t>
            </a:r>
            <a:r>
              <a:rPr lang="en-US" sz="6000" baseline="0" dirty="0" smtClean="0">
                <a:solidFill>
                  <a:srgbClr val="7F7F7F"/>
                </a:solidFill>
                <a:latin typeface="Calibri" pitchFamily="34" charset="0"/>
                <a:cs typeface="Calibri" panose="020F0502020204030204" pitchFamily="34" charset="0"/>
              </a:rPr>
              <a:t> photo will usually look fine up to </a:t>
            </a:r>
            <a:r>
              <a:rPr lang="en-US" sz="6000" dirty="0" smtClean="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smtClean="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smtClean="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r>
              <a:rPr lang="en-US" sz="4400" dirty="0" smtClean="0">
                <a:solidFill>
                  <a:srgbClr val="7F7F7F"/>
                </a:solidFill>
                <a:latin typeface="Calibri" pitchFamily="34" charset="0"/>
                <a:cs typeface="Calibri" panose="020F0502020204030204" pitchFamily="34" charset="0"/>
              </a:rPr>
              <a:t/>
            </a:r>
            <a:br>
              <a:rPr lang="en-US" sz="4400" dirty="0" smtClean="0">
                <a:solidFill>
                  <a:srgbClr val="7F7F7F"/>
                </a:solidFill>
                <a:latin typeface="Calibri" pitchFamily="34" charset="0"/>
                <a:cs typeface="Calibri" panose="020F0502020204030204" pitchFamily="34" charset="0"/>
              </a:rPr>
            </a:br>
            <a:r>
              <a:rPr lang="en-US" sz="4400" dirty="0" smtClean="0">
                <a:solidFill>
                  <a:srgbClr val="7F7F7F"/>
                </a:solidFill>
                <a:latin typeface="Calibri" pitchFamily="34" charset="0"/>
                <a:cs typeface="Calibri" panose="020F0502020204030204" pitchFamily="34" charset="0"/>
              </a:rPr>
              <a:t>[This sidebar area does not print.]</a:t>
            </a:r>
          </a:p>
        </p:txBody>
      </p:sp>
      <p:grpSp>
        <p:nvGrpSpPr>
          <p:cNvPr id="8" name="Group 7"/>
          <p:cNvGrpSpPr/>
          <p:nvPr userDrawn="1"/>
        </p:nvGrpSpPr>
        <p:grpSpPr>
          <a:xfrm>
            <a:off x="41071800" y="0"/>
            <a:ext cx="11734800" cy="40233600"/>
            <a:chOff x="33832800" y="0"/>
            <a:chExt cx="12801600" cy="43891200"/>
          </a:xfrm>
        </p:grpSpPr>
        <p:sp>
          <p:nvSpPr>
            <p:cNvPr id="9"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smtClean="0">
                  <a:solidFill>
                    <a:schemeClr val="bg1">
                      <a:lumMod val="50000"/>
                    </a:schemeClr>
                  </a:solidFill>
                  <a:latin typeface="Calibri" pitchFamily="34" charset="0"/>
                  <a:cs typeface="Calibri" panose="020F0502020204030204" pitchFamily="34" charset="0"/>
                </a:rPr>
                <a:t>Change</a:t>
              </a:r>
              <a:r>
                <a:rPr lang="en-US" sz="8800" baseline="0" dirty="0" smtClean="0">
                  <a:solidFill>
                    <a:schemeClr val="bg1">
                      <a:lumMod val="50000"/>
                    </a:schemeClr>
                  </a:solidFill>
                  <a:latin typeface="Calibri" pitchFamily="34" charset="0"/>
                  <a:cs typeface="Calibri" panose="020F0502020204030204" pitchFamily="34" charset="0"/>
                </a:rPr>
                <a:t> Color Theme</a:t>
              </a:r>
              <a:r>
                <a:rPr lang="en-US" sz="8800" dirty="0" smtClean="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smtClean="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smtClean="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smtClean="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smtClean="0">
                  <a:solidFill>
                    <a:schemeClr val="bg1">
                      <a:lumMod val="50000"/>
                    </a:schemeClr>
                  </a:solidFill>
                  <a:latin typeface="Calibri" pitchFamily="34" charset="0"/>
                  <a:cs typeface="Calibri" panose="020F0502020204030204" pitchFamily="34" charset="0"/>
                </a:rPr>
                <a:t>Design</a:t>
              </a:r>
              <a:r>
                <a:rPr lang="en-US" sz="6000" baseline="0" dirty="0" smtClean="0">
                  <a:solidFill>
                    <a:schemeClr val="bg1">
                      <a:lumMod val="50000"/>
                    </a:schemeClr>
                  </a:solidFill>
                  <a:latin typeface="Calibri" pitchFamily="34" charset="0"/>
                  <a:cs typeface="Calibri" panose="020F0502020204030204" pitchFamily="34" charset="0"/>
                </a:rPr>
                <a:t> tab, then select the </a:t>
              </a:r>
              <a:r>
                <a:rPr lang="en-US" sz="6000" b="1" baseline="0" dirty="0" smtClean="0">
                  <a:solidFill>
                    <a:schemeClr val="bg1">
                      <a:lumMod val="50000"/>
                    </a:schemeClr>
                  </a:solidFill>
                  <a:latin typeface="Calibri" pitchFamily="34" charset="0"/>
                  <a:cs typeface="Calibri" panose="020F0502020204030204" pitchFamily="34" charset="0"/>
                </a:rPr>
                <a:t>Colors</a:t>
              </a:r>
              <a:r>
                <a:rPr lang="en-US" sz="6000" baseline="0" dirty="0" smtClean="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smtClean="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smtClean="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smtClean="0">
                  <a:solidFill>
                    <a:schemeClr val="bg1">
                      <a:lumMod val="50000"/>
                    </a:schemeClr>
                  </a:solidFill>
                  <a:latin typeface="Calibri" pitchFamily="34" charset="0"/>
                  <a:cs typeface="Calibri" panose="020F0502020204030204" pitchFamily="34" charset="0"/>
                </a:rPr>
                <a:t>Once your poster file is ready, visit</a:t>
              </a:r>
              <a:r>
                <a:rPr lang="en-US" sz="6000" baseline="0" dirty="0" smtClean="0">
                  <a:solidFill>
                    <a:schemeClr val="bg1">
                      <a:lumMod val="50000"/>
                    </a:schemeClr>
                  </a:solidFill>
                  <a:latin typeface="Calibri" pitchFamily="34" charset="0"/>
                  <a:cs typeface="Calibri" panose="020F0502020204030204" pitchFamily="34" charset="0"/>
                </a:rPr>
                <a:t> </a:t>
              </a:r>
              <a:r>
                <a:rPr lang="en-US" sz="6000" b="1" baseline="0" dirty="0" smtClean="0">
                  <a:solidFill>
                    <a:schemeClr val="bg1">
                      <a:lumMod val="50000"/>
                    </a:schemeClr>
                  </a:solidFill>
                  <a:latin typeface="Calibri" pitchFamily="34" charset="0"/>
                  <a:cs typeface="Calibri" panose="020F0502020204030204" pitchFamily="34" charset="0"/>
                </a:rPr>
                <a:t>www.genigraphics.com</a:t>
              </a:r>
              <a:r>
                <a:rPr lang="en-US" sz="6000" baseline="0" dirty="0" smtClean="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smtClean="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smtClean="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smtClean="0">
                  <a:solidFill>
                    <a:schemeClr val="bg1">
                      <a:lumMod val="50000"/>
                    </a:schemeClr>
                  </a:solidFill>
                  <a:latin typeface="Calibri" pitchFamily="34" charset="0"/>
                  <a:cs typeface="Calibri" panose="020F0502020204030204" pitchFamily="34" charset="0"/>
                </a:rPr>
                <a:t>US and Canada:  1-800-790-4001</a:t>
              </a:r>
              <a:br>
                <a:rPr lang="en-US" sz="6000" baseline="0" dirty="0" smtClean="0">
                  <a:solidFill>
                    <a:schemeClr val="bg1">
                      <a:lumMod val="50000"/>
                    </a:schemeClr>
                  </a:solidFill>
                  <a:latin typeface="Calibri" pitchFamily="34" charset="0"/>
                  <a:cs typeface="Calibri" panose="020F0502020204030204" pitchFamily="34" charset="0"/>
                </a:rPr>
              </a:br>
              <a:r>
                <a:rPr lang="en-US" sz="6000" baseline="0" dirty="0" smtClean="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r>
                <a:rPr lang="en-US" sz="4400" dirty="0" smtClean="0">
                  <a:solidFill>
                    <a:schemeClr val="bg1">
                      <a:lumMod val="50000"/>
                    </a:schemeClr>
                  </a:solidFill>
                  <a:latin typeface="Calibri" pitchFamily="34" charset="0"/>
                  <a:cs typeface="Calibri" panose="020F0502020204030204" pitchFamily="34" charset="0"/>
                </a:rPr>
                <a:t/>
              </a:r>
              <a:br>
                <a:rPr lang="en-US" sz="4400" dirty="0" smtClean="0">
                  <a:solidFill>
                    <a:schemeClr val="bg1">
                      <a:lumMod val="50000"/>
                    </a:schemeClr>
                  </a:solidFill>
                  <a:latin typeface="Calibri" pitchFamily="34" charset="0"/>
                  <a:cs typeface="Calibri" panose="020F0502020204030204" pitchFamily="34" charset="0"/>
                </a:rPr>
              </a:br>
              <a:r>
                <a:rPr lang="en-US" sz="4400" dirty="0" smtClean="0">
                  <a:solidFill>
                    <a:schemeClr val="bg1">
                      <a:lumMod val="50000"/>
                    </a:schemeClr>
                  </a:solidFill>
                  <a:latin typeface="Calibri" pitchFamily="34" charset="0"/>
                  <a:cs typeface="Calibri" panose="020F0502020204030204" pitchFamily="34" charset="0"/>
                </a:rPr>
                <a:t>[This sidebar area does not print.]</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spTree>
    <p:extLst>
      <p:ext uri="{BB962C8B-B14F-4D97-AF65-F5344CB8AC3E}">
        <p14:creationId xmlns:p14="http://schemas.microsoft.com/office/powerpoint/2010/main" val="337068377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10607040" y="731520"/>
            <a:ext cx="28895040" cy="3877056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731520" y="731520"/>
            <a:ext cx="9144000" cy="3877056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213800" y="39852600"/>
            <a:ext cx="5297435" cy="185928"/>
          </a:xfrm>
          <a:prstGeom prst="rect">
            <a:avLst/>
          </a:prstGeom>
        </p:spPr>
      </p:pic>
    </p:spTree>
    <p:extLst>
      <p:ext uri="{BB962C8B-B14F-4D97-AF65-F5344CB8AC3E}">
        <p14:creationId xmlns:p14="http://schemas.microsoft.com/office/powerpoint/2010/main" val="3051980221"/>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txStyles>
    <p:titleStyle>
      <a:lvl1pPr algn="ctr" defTabSz="4598060" rtl="0" eaLnBrk="1" latinLnBrk="0" hangingPunct="1">
        <a:spcBef>
          <a:spcPct val="0"/>
        </a:spcBef>
        <a:buNone/>
        <a:defRPr sz="22100" kern="1200">
          <a:solidFill>
            <a:schemeClr val="tx1"/>
          </a:solidFill>
          <a:latin typeface="+mj-lt"/>
          <a:ea typeface="+mj-ea"/>
          <a:cs typeface="+mj-cs"/>
        </a:defRPr>
      </a:lvl1pPr>
    </p:titleStyle>
    <p:bodyStyle>
      <a:lvl1pPr marL="1724273" indent="-1724273" algn="l" defTabSz="4598060" rtl="0" eaLnBrk="1" latinLnBrk="0" hangingPunct="1">
        <a:spcBef>
          <a:spcPct val="20000"/>
        </a:spcBef>
        <a:buFont typeface="Arial" panose="020B0604020202020204" pitchFamily="34" charset="0"/>
        <a:buChar char="•"/>
        <a:defRPr sz="16100" kern="1200">
          <a:solidFill>
            <a:schemeClr val="tx1"/>
          </a:solidFill>
          <a:latin typeface="+mn-lt"/>
          <a:ea typeface="+mn-ea"/>
          <a:cs typeface="+mn-cs"/>
        </a:defRPr>
      </a:lvl1pPr>
      <a:lvl2pPr marL="3735924" indent="-1436894" algn="l" defTabSz="4598060" rtl="0" eaLnBrk="1" latinLnBrk="0" hangingPunct="1">
        <a:spcBef>
          <a:spcPct val="20000"/>
        </a:spcBef>
        <a:buFont typeface="Arial" panose="020B0604020202020204" pitchFamily="34" charset="0"/>
        <a:buChar char="–"/>
        <a:defRPr sz="14100" kern="1200">
          <a:solidFill>
            <a:schemeClr val="tx1"/>
          </a:solidFill>
          <a:latin typeface="+mn-lt"/>
          <a:ea typeface="+mn-ea"/>
          <a:cs typeface="+mn-cs"/>
        </a:defRPr>
      </a:lvl2pPr>
      <a:lvl3pPr marL="5747576" indent="-1149515" algn="l" defTabSz="4598060" rtl="0" eaLnBrk="1" latinLnBrk="0" hangingPunct="1">
        <a:spcBef>
          <a:spcPct val="20000"/>
        </a:spcBef>
        <a:buFont typeface="Arial" panose="020B0604020202020204" pitchFamily="34" charset="0"/>
        <a:buChar char="•"/>
        <a:defRPr sz="12100" kern="1200">
          <a:solidFill>
            <a:schemeClr val="tx1"/>
          </a:solidFill>
          <a:latin typeface="+mn-lt"/>
          <a:ea typeface="+mn-ea"/>
          <a:cs typeface="+mn-cs"/>
        </a:defRPr>
      </a:lvl3pPr>
      <a:lvl4pPr marL="8046606" indent="-1149515" algn="l" defTabSz="4598060" rtl="0" eaLnBrk="1" latinLnBrk="0" hangingPunct="1">
        <a:spcBef>
          <a:spcPct val="20000"/>
        </a:spcBef>
        <a:buFont typeface="Arial" panose="020B0604020202020204" pitchFamily="34" charset="0"/>
        <a:buChar char="–"/>
        <a:defRPr sz="10100" kern="1200">
          <a:solidFill>
            <a:schemeClr val="tx1"/>
          </a:solidFill>
          <a:latin typeface="+mn-lt"/>
          <a:ea typeface="+mn-ea"/>
          <a:cs typeface="+mn-cs"/>
        </a:defRPr>
      </a:lvl4pPr>
      <a:lvl5pPr marL="10345636" indent="-1149515" algn="l" defTabSz="4598060" rtl="0" eaLnBrk="1" latinLnBrk="0" hangingPunct="1">
        <a:spcBef>
          <a:spcPct val="20000"/>
        </a:spcBef>
        <a:buFont typeface="Arial" panose="020B0604020202020204" pitchFamily="34" charset="0"/>
        <a:buChar char="»"/>
        <a:defRPr sz="10100" kern="1200">
          <a:solidFill>
            <a:schemeClr val="tx1"/>
          </a:solidFill>
          <a:latin typeface="+mn-lt"/>
          <a:ea typeface="+mn-ea"/>
          <a:cs typeface="+mn-cs"/>
        </a:defRPr>
      </a:lvl5pPr>
      <a:lvl6pPr marL="12644666" indent="-1149515" algn="l" defTabSz="4598060" rtl="0" eaLnBrk="1" latinLnBrk="0" hangingPunct="1">
        <a:spcBef>
          <a:spcPct val="20000"/>
        </a:spcBef>
        <a:buFont typeface="Arial" panose="020B0604020202020204" pitchFamily="34" charset="0"/>
        <a:buChar char="•"/>
        <a:defRPr sz="10100" kern="1200">
          <a:solidFill>
            <a:schemeClr val="tx1"/>
          </a:solidFill>
          <a:latin typeface="+mn-lt"/>
          <a:ea typeface="+mn-ea"/>
          <a:cs typeface="+mn-cs"/>
        </a:defRPr>
      </a:lvl6pPr>
      <a:lvl7pPr marL="14943696" indent="-1149515" algn="l" defTabSz="4598060" rtl="0" eaLnBrk="1" latinLnBrk="0" hangingPunct="1">
        <a:spcBef>
          <a:spcPct val="20000"/>
        </a:spcBef>
        <a:buFont typeface="Arial" panose="020B0604020202020204" pitchFamily="34" charset="0"/>
        <a:buChar char="•"/>
        <a:defRPr sz="10100" kern="1200">
          <a:solidFill>
            <a:schemeClr val="tx1"/>
          </a:solidFill>
          <a:latin typeface="+mn-lt"/>
          <a:ea typeface="+mn-ea"/>
          <a:cs typeface="+mn-cs"/>
        </a:defRPr>
      </a:lvl7pPr>
      <a:lvl8pPr marL="17242727" indent="-1149515" algn="l" defTabSz="4598060" rtl="0" eaLnBrk="1" latinLnBrk="0" hangingPunct="1">
        <a:spcBef>
          <a:spcPct val="20000"/>
        </a:spcBef>
        <a:buFont typeface="Arial" panose="020B0604020202020204" pitchFamily="34" charset="0"/>
        <a:buChar char="•"/>
        <a:defRPr sz="10100" kern="1200">
          <a:solidFill>
            <a:schemeClr val="tx1"/>
          </a:solidFill>
          <a:latin typeface="+mn-lt"/>
          <a:ea typeface="+mn-ea"/>
          <a:cs typeface="+mn-cs"/>
        </a:defRPr>
      </a:lvl8pPr>
      <a:lvl9pPr marL="19541757" indent="-1149515" algn="l" defTabSz="4598060" rtl="0" eaLnBrk="1" latinLnBrk="0" hangingPunct="1">
        <a:spcBef>
          <a:spcPct val="20000"/>
        </a:spcBef>
        <a:buFont typeface="Arial" panose="020B0604020202020204" pitchFamily="34" charset="0"/>
        <a:buChar char="•"/>
        <a:defRPr sz="10100" kern="1200">
          <a:solidFill>
            <a:schemeClr val="tx1"/>
          </a:solidFill>
          <a:latin typeface="+mn-lt"/>
          <a:ea typeface="+mn-ea"/>
          <a:cs typeface="+mn-cs"/>
        </a:defRPr>
      </a:lvl9pPr>
    </p:bodyStyle>
    <p:otherStyle>
      <a:defPPr>
        <a:defRPr lang="en-US"/>
      </a:defPPr>
      <a:lvl1pPr marL="0" algn="l" defTabSz="4598060" rtl="0" eaLnBrk="1" latinLnBrk="0" hangingPunct="1">
        <a:defRPr sz="9100" kern="1200">
          <a:solidFill>
            <a:schemeClr val="tx1"/>
          </a:solidFill>
          <a:latin typeface="+mn-lt"/>
          <a:ea typeface="+mn-ea"/>
          <a:cs typeface="+mn-cs"/>
        </a:defRPr>
      </a:lvl1pPr>
      <a:lvl2pPr marL="2299030" algn="l" defTabSz="4598060" rtl="0" eaLnBrk="1" latinLnBrk="0" hangingPunct="1">
        <a:defRPr sz="9100" kern="1200">
          <a:solidFill>
            <a:schemeClr val="tx1"/>
          </a:solidFill>
          <a:latin typeface="+mn-lt"/>
          <a:ea typeface="+mn-ea"/>
          <a:cs typeface="+mn-cs"/>
        </a:defRPr>
      </a:lvl2pPr>
      <a:lvl3pPr marL="4598060" algn="l" defTabSz="4598060" rtl="0" eaLnBrk="1" latinLnBrk="0" hangingPunct="1">
        <a:defRPr sz="9100" kern="1200">
          <a:solidFill>
            <a:schemeClr val="tx1"/>
          </a:solidFill>
          <a:latin typeface="+mn-lt"/>
          <a:ea typeface="+mn-ea"/>
          <a:cs typeface="+mn-cs"/>
        </a:defRPr>
      </a:lvl3pPr>
      <a:lvl4pPr marL="6897091" algn="l" defTabSz="4598060" rtl="0" eaLnBrk="1" latinLnBrk="0" hangingPunct="1">
        <a:defRPr sz="9100" kern="1200">
          <a:solidFill>
            <a:schemeClr val="tx1"/>
          </a:solidFill>
          <a:latin typeface="+mn-lt"/>
          <a:ea typeface="+mn-ea"/>
          <a:cs typeface="+mn-cs"/>
        </a:defRPr>
      </a:lvl4pPr>
      <a:lvl5pPr marL="9196121" algn="l" defTabSz="4598060" rtl="0" eaLnBrk="1" latinLnBrk="0" hangingPunct="1">
        <a:defRPr sz="9100" kern="1200">
          <a:solidFill>
            <a:schemeClr val="tx1"/>
          </a:solidFill>
          <a:latin typeface="+mn-lt"/>
          <a:ea typeface="+mn-ea"/>
          <a:cs typeface="+mn-cs"/>
        </a:defRPr>
      </a:lvl5pPr>
      <a:lvl6pPr marL="11495151" algn="l" defTabSz="4598060" rtl="0" eaLnBrk="1" latinLnBrk="0" hangingPunct="1">
        <a:defRPr sz="9100" kern="1200">
          <a:solidFill>
            <a:schemeClr val="tx1"/>
          </a:solidFill>
          <a:latin typeface="+mn-lt"/>
          <a:ea typeface="+mn-ea"/>
          <a:cs typeface="+mn-cs"/>
        </a:defRPr>
      </a:lvl6pPr>
      <a:lvl7pPr marL="13794181" algn="l" defTabSz="4598060" rtl="0" eaLnBrk="1" latinLnBrk="0" hangingPunct="1">
        <a:defRPr sz="9100" kern="1200">
          <a:solidFill>
            <a:schemeClr val="tx1"/>
          </a:solidFill>
          <a:latin typeface="+mn-lt"/>
          <a:ea typeface="+mn-ea"/>
          <a:cs typeface="+mn-cs"/>
        </a:defRPr>
      </a:lvl7pPr>
      <a:lvl8pPr marL="16093211" algn="l" defTabSz="4598060" rtl="0" eaLnBrk="1" latinLnBrk="0" hangingPunct="1">
        <a:defRPr sz="9100" kern="1200">
          <a:solidFill>
            <a:schemeClr val="tx1"/>
          </a:solidFill>
          <a:latin typeface="+mn-lt"/>
          <a:ea typeface="+mn-ea"/>
          <a:cs typeface="+mn-cs"/>
        </a:defRPr>
      </a:lvl8pPr>
      <a:lvl9pPr marL="18392242" algn="l" defTabSz="4598060" rtl="0" eaLnBrk="1" latinLnBrk="0" hangingPunct="1">
        <a:defRPr sz="9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731520" y="6400800"/>
            <a:ext cx="9144000" cy="8229600"/>
          </a:xfrm>
          <a:prstGeom prst="rect">
            <a:avLst/>
          </a:prstGeom>
          <a:noFill/>
        </p:spPr>
        <p:txBody>
          <a:bodyPr lIns="457200" rIns="457200" anchor="ctr" anchorCtr="0">
            <a:normAutofit/>
          </a:bodyPr>
          <a:lstStyle/>
          <a:p>
            <a:pPr algn="l"/>
            <a:r>
              <a:rPr lang="en-GB" sz="6300" b="1" dirty="0">
                <a:solidFill>
                  <a:schemeClr val="bg1"/>
                </a:solidFill>
                <a:latin typeface="Calibri" pitchFamily="34" charset="0"/>
              </a:rPr>
              <a:t>An Effective Approach to Address Processing Time and Computational Complexity Employing Modified CCT for Lung Disease Classification</a:t>
            </a:r>
            <a:endParaRPr lang="en-US" sz="6300" dirty="0">
              <a:solidFill>
                <a:schemeClr val="bg1"/>
              </a:solidFill>
            </a:endParaRPr>
          </a:p>
        </p:txBody>
      </p:sp>
      <p:sp>
        <p:nvSpPr>
          <p:cNvPr id="3" name="Subtitle 2"/>
          <p:cNvSpPr>
            <a:spLocks noGrp="1"/>
          </p:cNvSpPr>
          <p:nvPr>
            <p:ph type="subTitle" idx="4294967295"/>
          </p:nvPr>
        </p:nvSpPr>
        <p:spPr>
          <a:xfrm>
            <a:off x="731520" y="14813280"/>
            <a:ext cx="9144000" cy="3657600"/>
          </a:xfrm>
          <a:prstGeom prst="rect">
            <a:avLst/>
          </a:prstGeom>
          <a:noFill/>
        </p:spPr>
        <p:txBody>
          <a:bodyPr lIns="457200" rIns="457200" anchor="t" anchorCtr="0">
            <a:normAutofit fontScale="70000" lnSpcReduction="20000"/>
          </a:bodyPr>
          <a:lstStyle/>
          <a:p>
            <a:pPr marL="0" indent="0">
              <a:buNone/>
            </a:pPr>
            <a:r>
              <a:rPr lang="en-US" sz="4000" dirty="0" smtClean="0">
                <a:solidFill>
                  <a:schemeClr val="bg1"/>
                </a:solidFill>
                <a:latin typeface="Calibri" pitchFamily="34" charset="0"/>
              </a:rPr>
              <a:t>1. </a:t>
            </a:r>
            <a:r>
              <a:rPr lang="en-US" sz="4000" dirty="0" err="1" smtClean="0">
                <a:solidFill>
                  <a:schemeClr val="bg1"/>
                </a:solidFill>
                <a:latin typeface="Calibri" pitchFamily="34" charset="0"/>
              </a:rPr>
              <a:t>Inam</a:t>
            </a:r>
            <a:r>
              <a:rPr lang="en-US" sz="4000" dirty="0" smtClean="0">
                <a:solidFill>
                  <a:schemeClr val="bg1"/>
                </a:solidFill>
                <a:latin typeface="Calibri" pitchFamily="34" charset="0"/>
              </a:rPr>
              <a:t> </a:t>
            </a:r>
            <a:r>
              <a:rPr lang="en-US" sz="4000" dirty="0" err="1">
                <a:solidFill>
                  <a:schemeClr val="bg1"/>
                </a:solidFill>
                <a:latin typeface="Calibri" pitchFamily="34" charset="0"/>
              </a:rPr>
              <a:t>Ullah</a:t>
            </a:r>
            <a:r>
              <a:rPr lang="en-US" sz="4000" dirty="0">
                <a:solidFill>
                  <a:schemeClr val="bg1"/>
                </a:solidFill>
                <a:latin typeface="Calibri" pitchFamily="34" charset="0"/>
              </a:rPr>
              <a:t> </a:t>
            </a:r>
            <a:r>
              <a:rPr lang="en-US" sz="4000" dirty="0" smtClean="0">
                <a:solidFill>
                  <a:schemeClr val="bg1"/>
                </a:solidFill>
                <a:latin typeface="Calibri" pitchFamily="34" charset="0"/>
              </a:rPr>
              <a:t>Khan, 2. Sami </a:t>
            </a:r>
            <a:r>
              <a:rPr lang="en-US" sz="4000" dirty="0" err="1" smtClean="0">
                <a:solidFill>
                  <a:schemeClr val="bg1"/>
                </a:solidFill>
                <a:latin typeface="Calibri" pitchFamily="34" charset="0"/>
              </a:rPr>
              <a:t>Azam</a:t>
            </a:r>
            <a:r>
              <a:rPr lang="en-US" sz="4000" dirty="0" smtClean="0">
                <a:solidFill>
                  <a:schemeClr val="bg1"/>
                </a:solidFill>
                <a:latin typeface="Calibri" pitchFamily="34" charset="0"/>
              </a:rPr>
              <a:t>*, 3. </a:t>
            </a:r>
            <a:r>
              <a:rPr lang="en-US" sz="4000" dirty="0" err="1" smtClean="0">
                <a:solidFill>
                  <a:schemeClr val="bg1"/>
                </a:solidFill>
                <a:latin typeface="Calibri" pitchFamily="34" charset="0"/>
              </a:rPr>
              <a:t>Sidratul</a:t>
            </a:r>
            <a:r>
              <a:rPr lang="en-US" sz="4000" dirty="0" smtClean="0">
                <a:solidFill>
                  <a:schemeClr val="bg1"/>
                </a:solidFill>
                <a:latin typeface="Calibri" pitchFamily="34" charset="0"/>
              </a:rPr>
              <a:t> </a:t>
            </a:r>
            <a:r>
              <a:rPr lang="en-US" sz="4000" dirty="0" err="1" smtClean="0">
                <a:solidFill>
                  <a:schemeClr val="bg1"/>
                </a:solidFill>
                <a:latin typeface="Calibri" pitchFamily="34" charset="0"/>
              </a:rPr>
              <a:t>Montaha</a:t>
            </a:r>
            <a:r>
              <a:rPr lang="en-US" sz="4000" dirty="0" smtClean="0">
                <a:solidFill>
                  <a:schemeClr val="bg1"/>
                </a:solidFill>
                <a:latin typeface="Calibri" pitchFamily="34" charset="0"/>
              </a:rPr>
              <a:t>, 4. Abdullah </a:t>
            </a:r>
            <a:r>
              <a:rPr lang="en-US" sz="4000" dirty="0">
                <a:solidFill>
                  <a:schemeClr val="bg1"/>
                </a:solidFill>
                <a:latin typeface="Calibri" pitchFamily="34" charset="0"/>
              </a:rPr>
              <a:t>Al </a:t>
            </a:r>
            <a:r>
              <a:rPr lang="en-US" sz="4000" dirty="0" smtClean="0">
                <a:solidFill>
                  <a:schemeClr val="bg1"/>
                </a:solidFill>
                <a:latin typeface="Calibri" pitchFamily="34" charset="0"/>
              </a:rPr>
              <a:t>Mahmud, 5. A.K.M</a:t>
            </a:r>
            <a:r>
              <a:rPr lang="en-US" sz="4000" dirty="0">
                <a:solidFill>
                  <a:schemeClr val="bg1"/>
                </a:solidFill>
                <a:latin typeface="Calibri" pitchFamily="34" charset="0"/>
              </a:rPr>
              <a:t>. </a:t>
            </a:r>
            <a:r>
              <a:rPr lang="en-US" sz="4000" dirty="0" err="1">
                <a:solidFill>
                  <a:schemeClr val="bg1"/>
                </a:solidFill>
                <a:latin typeface="Calibri" pitchFamily="34" charset="0"/>
              </a:rPr>
              <a:t>Rakibul</a:t>
            </a:r>
            <a:r>
              <a:rPr lang="en-US" sz="4000" dirty="0">
                <a:solidFill>
                  <a:schemeClr val="bg1"/>
                </a:solidFill>
                <a:latin typeface="Calibri" pitchFamily="34" charset="0"/>
              </a:rPr>
              <a:t> </a:t>
            </a:r>
            <a:r>
              <a:rPr lang="en-US" sz="4000" dirty="0" err="1">
                <a:solidFill>
                  <a:schemeClr val="bg1"/>
                </a:solidFill>
                <a:latin typeface="Calibri" pitchFamily="34" charset="0"/>
              </a:rPr>
              <a:t>Haque</a:t>
            </a:r>
            <a:r>
              <a:rPr lang="en-US" sz="4000" dirty="0">
                <a:solidFill>
                  <a:schemeClr val="bg1"/>
                </a:solidFill>
                <a:latin typeface="Calibri" pitchFamily="34" charset="0"/>
              </a:rPr>
              <a:t> </a:t>
            </a:r>
            <a:r>
              <a:rPr lang="en-US" sz="4000" dirty="0" err="1">
                <a:solidFill>
                  <a:schemeClr val="bg1"/>
                </a:solidFill>
                <a:latin typeface="Calibri" pitchFamily="34" charset="0"/>
              </a:rPr>
              <a:t>Rafid</a:t>
            </a:r>
            <a:r>
              <a:rPr lang="en-US" sz="4000" dirty="0">
                <a:solidFill>
                  <a:schemeClr val="bg1"/>
                </a:solidFill>
                <a:latin typeface="Calibri" pitchFamily="34" charset="0"/>
              </a:rPr>
              <a:t>, </a:t>
            </a:r>
            <a:r>
              <a:rPr lang="en-US" sz="4000" dirty="0" smtClean="0">
                <a:solidFill>
                  <a:schemeClr val="bg1"/>
                </a:solidFill>
                <a:latin typeface="Calibri" pitchFamily="34" charset="0"/>
              </a:rPr>
              <a:t>6. Md</a:t>
            </a:r>
            <a:r>
              <a:rPr lang="en-US" sz="4000" dirty="0">
                <a:solidFill>
                  <a:schemeClr val="bg1"/>
                </a:solidFill>
                <a:latin typeface="Calibri" pitchFamily="34" charset="0"/>
              </a:rPr>
              <a:t>. </a:t>
            </a:r>
            <a:r>
              <a:rPr lang="en-US" sz="4000" dirty="0" err="1">
                <a:solidFill>
                  <a:schemeClr val="bg1"/>
                </a:solidFill>
                <a:latin typeface="Calibri" pitchFamily="34" charset="0"/>
              </a:rPr>
              <a:t>Zahid</a:t>
            </a:r>
            <a:r>
              <a:rPr lang="en-US" sz="4000" dirty="0">
                <a:solidFill>
                  <a:schemeClr val="bg1"/>
                </a:solidFill>
                <a:latin typeface="Calibri" pitchFamily="34" charset="0"/>
              </a:rPr>
              <a:t> </a:t>
            </a:r>
            <a:r>
              <a:rPr lang="en-US" sz="4000" dirty="0" smtClean="0">
                <a:solidFill>
                  <a:schemeClr val="bg1"/>
                </a:solidFill>
                <a:latin typeface="Calibri" pitchFamily="34" charset="0"/>
              </a:rPr>
              <a:t>Hasan, 7 </a:t>
            </a:r>
            <a:r>
              <a:rPr lang="en-US" sz="4000" dirty="0" err="1" smtClean="0">
                <a:solidFill>
                  <a:schemeClr val="bg1"/>
                </a:solidFill>
                <a:latin typeface="Calibri" pitchFamily="34" charset="0"/>
              </a:rPr>
              <a:t>Mirjam</a:t>
            </a:r>
            <a:r>
              <a:rPr lang="en-US" sz="4000" dirty="0" smtClean="0">
                <a:solidFill>
                  <a:schemeClr val="bg1"/>
                </a:solidFill>
                <a:latin typeface="Calibri" pitchFamily="34" charset="0"/>
              </a:rPr>
              <a:t> </a:t>
            </a:r>
            <a:r>
              <a:rPr lang="en-US" sz="4000" dirty="0" err="1" smtClean="0">
                <a:solidFill>
                  <a:schemeClr val="bg1"/>
                </a:solidFill>
                <a:latin typeface="Calibri" pitchFamily="34" charset="0"/>
              </a:rPr>
              <a:t>Jonkman</a:t>
            </a:r>
            <a:endParaRPr lang="en-US" sz="4000" dirty="0">
              <a:solidFill>
                <a:schemeClr val="bg1"/>
              </a:solidFill>
              <a:latin typeface="Calibri" pitchFamily="34" charset="0"/>
            </a:endParaRPr>
          </a:p>
          <a:p>
            <a:pPr marL="0" indent="0">
              <a:buNone/>
            </a:pPr>
            <a:endParaRPr lang="en-US" sz="4000" dirty="0" smtClean="0">
              <a:solidFill>
                <a:schemeClr val="bg1"/>
              </a:solidFill>
              <a:latin typeface="Calibri" pitchFamily="34" charset="0"/>
            </a:endParaRPr>
          </a:p>
          <a:p>
            <a:pPr marL="0" indent="0">
              <a:buNone/>
            </a:pPr>
            <a:r>
              <a:rPr lang="en-GB" sz="3600" dirty="0">
                <a:solidFill>
                  <a:schemeClr val="bg1"/>
                </a:solidFill>
                <a:latin typeface="Calibri" pitchFamily="34" charset="0"/>
              </a:rPr>
              <a:t>1, 3, 4, </a:t>
            </a:r>
            <a:r>
              <a:rPr lang="en-GB" sz="3600" dirty="0" smtClean="0">
                <a:solidFill>
                  <a:schemeClr val="bg1"/>
                </a:solidFill>
                <a:latin typeface="Calibri" pitchFamily="34" charset="0"/>
              </a:rPr>
              <a:t>5: </a:t>
            </a:r>
            <a:r>
              <a:rPr lang="en-GB" sz="3600" dirty="0">
                <a:solidFill>
                  <a:schemeClr val="bg1"/>
                </a:solidFill>
                <a:latin typeface="Calibri" pitchFamily="34" charset="0"/>
              </a:rPr>
              <a:t>Health Informatics Research Laboratory (HIRL), Department of Computer Science and Engineering, Daffodil International University, Dhaka-1341, Bangladesh.</a:t>
            </a:r>
          </a:p>
          <a:p>
            <a:pPr marL="0" indent="0">
              <a:buNone/>
            </a:pPr>
            <a:r>
              <a:rPr lang="en-GB" sz="3600" dirty="0">
                <a:solidFill>
                  <a:schemeClr val="bg1"/>
                </a:solidFill>
                <a:latin typeface="Calibri" pitchFamily="34" charset="0"/>
              </a:rPr>
              <a:t>2*,</a:t>
            </a:r>
            <a:r>
              <a:rPr lang="en-GB" sz="3600" dirty="0" smtClean="0">
                <a:solidFill>
                  <a:schemeClr val="bg1"/>
                </a:solidFill>
                <a:latin typeface="Calibri" pitchFamily="34" charset="0"/>
              </a:rPr>
              <a:t>6: </a:t>
            </a:r>
            <a:r>
              <a:rPr lang="en-GB" sz="3600" dirty="0">
                <a:solidFill>
                  <a:schemeClr val="bg1"/>
                </a:solidFill>
                <a:latin typeface="Calibri" pitchFamily="34" charset="0"/>
              </a:rPr>
              <a:t>College of Engineering, IT and Environment, Charles Darwin University, Casuarina, 0909, NT, Australia</a:t>
            </a:r>
          </a:p>
        </p:txBody>
      </p:sp>
      <p:sp>
        <p:nvSpPr>
          <p:cNvPr id="7" name="Text Box 264"/>
          <p:cNvSpPr txBox="1">
            <a:spLocks noChangeArrowheads="1"/>
          </p:cNvSpPr>
          <p:nvPr/>
        </p:nvSpPr>
        <p:spPr bwMode="auto">
          <a:xfrm>
            <a:off x="731520" y="34331206"/>
            <a:ext cx="9144000"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0" tIns="209535" rIns="457200" bIns="209535"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dirty="0">
                <a:solidFill>
                  <a:schemeClr val="bg1"/>
                </a:solidFill>
                <a:latin typeface="Calibri" pitchFamily="34" charset="0"/>
              </a:rPr>
              <a:t>CONTACT</a:t>
            </a:r>
          </a:p>
        </p:txBody>
      </p:sp>
      <p:sp>
        <p:nvSpPr>
          <p:cNvPr id="8" name="Text Box 274"/>
          <p:cNvSpPr txBox="1">
            <a:spLocks noChangeArrowheads="1"/>
          </p:cNvSpPr>
          <p:nvPr/>
        </p:nvSpPr>
        <p:spPr bwMode="auto">
          <a:xfrm>
            <a:off x="731520" y="35661600"/>
            <a:ext cx="9144000" cy="3108960"/>
          </a:xfrm>
          <a:prstGeom prst="rect">
            <a:avLst/>
          </a:prstGeom>
          <a:noFill/>
          <a:ln>
            <a:noFill/>
          </a:ln>
          <a:effectLst/>
        </p:spPr>
        <p:txBody>
          <a:bodyPr lIns="457200" tIns="182880" rIns="457200" bIns="182880" anchor="ctr" anchorCtr="0">
            <a:normAutofit lnSpcReduction="10000"/>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r>
              <a:rPr lang="en-GB" sz="2800" dirty="0" smtClean="0">
                <a:solidFill>
                  <a:schemeClr val="bg1"/>
                </a:solidFill>
                <a:latin typeface="Calibri" pitchFamily="34" charset="0"/>
              </a:rPr>
              <a:t>Md</a:t>
            </a:r>
            <a:r>
              <a:rPr lang="en-GB" sz="2800" dirty="0">
                <a:solidFill>
                  <a:schemeClr val="bg1"/>
                </a:solidFill>
                <a:latin typeface="Calibri" pitchFamily="34" charset="0"/>
              </a:rPr>
              <a:t>. </a:t>
            </a:r>
            <a:r>
              <a:rPr lang="en-GB" sz="2800" dirty="0" err="1">
                <a:solidFill>
                  <a:schemeClr val="bg1"/>
                </a:solidFill>
                <a:latin typeface="Calibri" pitchFamily="34" charset="0"/>
              </a:rPr>
              <a:t>Zahid</a:t>
            </a:r>
            <a:r>
              <a:rPr lang="en-GB" sz="2800" dirty="0">
                <a:solidFill>
                  <a:schemeClr val="bg1"/>
                </a:solidFill>
                <a:latin typeface="Calibri" pitchFamily="34" charset="0"/>
              </a:rPr>
              <a:t> Hasan</a:t>
            </a:r>
          </a:p>
          <a:p>
            <a:r>
              <a:rPr lang="en-GB" sz="2800" dirty="0" smtClean="0">
                <a:solidFill>
                  <a:schemeClr val="bg1"/>
                </a:solidFill>
                <a:latin typeface="Calibri" pitchFamily="34" charset="0"/>
              </a:rPr>
              <a:t>Health </a:t>
            </a:r>
            <a:r>
              <a:rPr lang="en-GB" sz="2800" dirty="0">
                <a:solidFill>
                  <a:schemeClr val="bg1"/>
                </a:solidFill>
                <a:latin typeface="Calibri" pitchFamily="34" charset="0"/>
              </a:rPr>
              <a:t>Informatics Research Lab</a:t>
            </a:r>
          </a:p>
          <a:p>
            <a:r>
              <a:rPr lang="en-GB" sz="2800" dirty="0" smtClean="0">
                <a:solidFill>
                  <a:schemeClr val="bg1"/>
                </a:solidFill>
                <a:latin typeface="Calibri" pitchFamily="34" charset="0"/>
              </a:rPr>
              <a:t>Daffodil International University</a:t>
            </a:r>
            <a:endParaRPr lang="en-GB" sz="2800" dirty="0">
              <a:solidFill>
                <a:schemeClr val="bg1"/>
              </a:solidFill>
              <a:latin typeface="Calibri" pitchFamily="34" charset="0"/>
            </a:endParaRPr>
          </a:p>
          <a:p>
            <a:r>
              <a:rPr lang="en-GB" sz="2800" dirty="0">
                <a:solidFill>
                  <a:schemeClr val="bg1"/>
                </a:solidFill>
                <a:latin typeface="Calibri" pitchFamily="34" charset="0"/>
              </a:rPr>
              <a:t>Email: zahid.cse@gmail.com</a:t>
            </a:r>
          </a:p>
          <a:p>
            <a:r>
              <a:rPr lang="en-GB" sz="2800" dirty="0">
                <a:solidFill>
                  <a:schemeClr val="bg1"/>
                </a:solidFill>
                <a:latin typeface="Calibri" pitchFamily="34" charset="0"/>
              </a:rPr>
              <a:t>Phone: +8801672-580748</a:t>
            </a:r>
          </a:p>
          <a:p>
            <a:r>
              <a:rPr lang="en-GB" sz="2800" dirty="0">
                <a:solidFill>
                  <a:schemeClr val="bg1"/>
                </a:solidFill>
                <a:latin typeface="Calibri" pitchFamily="34" charset="0"/>
              </a:rPr>
              <a:t>Website: </a:t>
            </a:r>
            <a:endParaRPr lang="en-GB" sz="2800" dirty="0" smtClean="0">
              <a:solidFill>
                <a:schemeClr val="bg1"/>
              </a:solidFill>
              <a:latin typeface="Calibri" pitchFamily="34" charset="0"/>
            </a:endParaRPr>
          </a:p>
          <a:p>
            <a:r>
              <a:rPr lang="en-GB" sz="2800" dirty="0" smtClean="0">
                <a:solidFill>
                  <a:schemeClr val="bg1"/>
                </a:solidFill>
                <a:latin typeface="Calibri" pitchFamily="34" charset="0"/>
              </a:rPr>
              <a:t>https</a:t>
            </a:r>
            <a:r>
              <a:rPr lang="en-GB" sz="2800" dirty="0">
                <a:solidFill>
                  <a:schemeClr val="bg1"/>
                </a:solidFill>
                <a:latin typeface="Calibri" pitchFamily="34" charset="0"/>
              </a:rPr>
              <a:t>://sites.google.com/diu.edu.bd/diu-hirl/home</a:t>
            </a:r>
            <a:endParaRPr lang="en-US" sz="2800" dirty="0">
              <a:solidFill>
                <a:schemeClr val="bg1"/>
              </a:solidFill>
              <a:latin typeface="Calibri" pitchFamily="34" charset="0"/>
            </a:endParaRPr>
          </a:p>
        </p:txBody>
      </p:sp>
      <p:sp>
        <p:nvSpPr>
          <p:cNvPr id="12" name="Text Box 246"/>
          <p:cNvSpPr txBox="1">
            <a:spLocks noChangeArrowheads="1"/>
          </p:cNvSpPr>
          <p:nvPr/>
        </p:nvSpPr>
        <p:spPr bwMode="auto">
          <a:xfrm>
            <a:off x="731520" y="19613880"/>
            <a:ext cx="9144000" cy="1097280"/>
          </a:xfrm>
          <a:prstGeom prst="rect">
            <a:avLst/>
          </a:prstGeom>
          <a:noFill/>
          <a:ln>
            <a:noFill/>
          </a:ln>
          <a:effectLst/>
          <a:extLst/>
        </p:spPr>
        <p:txBody>
          <a:bodyPr wrap="none" lIns="457200" tIns="209535" rIns="457200" bIns="209535"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dirty="0">
                <a:solidFill>
                  <a:schemeClr val="bg1"/>
                </a:solidFill>
                <a:latin typeface="Calibri" pitchFamily="34" charset="0"/>
              </a:rPr>
              <a:t>ABSTRACT</a:t>
            </a:r>
          </a:p>
        </p:txBody>
      </p:sp>
      <p:sp>
        <p:nvSpPr>
          <p:cNvPr id="13" name="Text Box 267"/>
          <p:cNvSpPr txBox="1">
            <a:spLocks noChangeArrowheads="1"/>
          </p:cNvSpPr>
          <p:nvPr/>
        </p:nvSpPr>
        <p:spPr bwMode="auto">
          <a:xfrm>
            <a:off x="731520" y="20634960"/>
            <a:ext cx="9144000" cy="12984480"/>
          </a:xfrm>
          <a:prstGeom prst="rect">
            <a:avLst/>
          </a:prstGeom>
          <a:noFill/>
          <a:ln>
            <a:noFill/>
          </a:ln>
          <a:effectLst/>
        </p:spPr>
        <p:txBody>
          <a:bodyPr lIns="457200" tIns="182880" rIns="457200" bIns="182880">
            <a:normAutofit fontScale="85000" lnSpcReduction="20000"/>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algn="just" defTabSz="4023067" fontAlgn="auto">
              <a:spcBef>
                <a:spcPts val="0"/>
              </a:spcBef>
              <a:spcAft>
                <a:spcPts val="0"/>
              </a:spcAft>
            </a:pPr>
            <a:r>
              <a:rPr lang="en-GB" sz="3200" dirty="0">
                <a:solidFill>
                  <a:schemeClr val="bg1"/>
                </a:solidFill>
                <a:latin typeface="Calibri" pitchFamily="34" charset="0"/>
              </a:rPr>
              <a:t>Early identification and adequate treatment can in preventing lung disorders from becoming chronic, severe, and life-threatening. In the study of medical imaging using deep learning, two obstacles limit interpretability. One is an insufficient and imbalanced number of training samples in most medical datasets. The other is excessive training time. This study represents a solution to overcome these impediments by balancing the number of images and reducing overall processing time while preserving the accuracy. The quantity of data in the classes is balanced by creating synthetic images based on the patterns and characteristics of the original images, using a Deep Convolutional Generative Adversarial Network (DCGAN). Unwanted regions are removed from the X-ray images, the brightness and contrast of the images are enhanced, and the chest abnormality is highlighted by using different </a:t>
            </a:r>
            <a:r>
              <a:rPr lang="en-GB" sz="3200" dirty="0" smtClean="0">
                <a:solidFill>
                  <a:schemeClr val="bg1"/>
                </a:solidFill>
                <a:latin typeface="Calibri" pitchFamily="34" charset="0"/>
              </a:rPr>
              <a:t>artefact </a:t>
            </a:r>
            <a:r>
              <a:rPr lang="en-GB" sz="3200" dirty="0">
                <a:solidFill>
                  <a:schemeClr val="bg1"/>
                </a:solidFill>
                <a:latin typeface="Calibri" pitchFamily="34" charset="0"/>
              </a:rPr>
              <a:t>removal, noise reduction, and enhancement techniques. We propose a Modified Compact Convolutional Transformer (MCCT) model using 32×32 sized images for the categorization of lung disorders into four classes by altering the original CCT model.  An ablation study of nine cases is employed to adjust several hyper parameters and layer topologies which reduces training time while preserving accuracy. Six transfer learning models, VGG19, VGG16, ResNet152, ResNet50, ResNet50V2, and </a:t>
            </a:r>
            <a:r>
              <a:rPr lang="en-GB" sz="3200" dirty="0" err="1">
                <a:solidFill>
                  <a:schemeClr val="bg1"/>
                </a:solidFill>
                <a:latin typeface="Calibri" pitchFamily="34" charset="0"/>
              </a:rPr>
              <a:t>MobileNet</a:t>
            </a:r>
            <a:r>
              <a:rPr lang="en-GB" sz="3200" dirty="0">
                <a:solidFill>
                  <a:schemeClr val="bg1"/>
                </a:solidFill>
                <a:latin typeface="Calibri" pitchFamily="34" charset="0"/>
              </a:rPr>
              <a:t> are applied with the same image size to compare the performance of the proposed MCCT model. Our suggested MCCT model records the greatest test accuracy of 95.37%, requiring a low training time of 10-12 s/epoch, whereas the other models only reach near-moderate performance showing accuracies ranging from 43% to 79% and requiring training times of 80-90 s/epoch. Our proposed approach may contribute to an effective CAD based diagnostic system by addressing the issues of insufficient and imbalanced numbers of medical images, excessive training times and low-resolution images</a:t>
            </a:r>
            <a:endParaRPr lang="en-US" sz="3200" dirty="0">
              <a:solidFill>
                <a:schemeClr val="bg1"/>
              </a:solidFill>
              <a:latin typeface="Calibri" pitchFamily="34" charset="0"/>
            </a:endParaRPr>
          </a:p>
        </p:txBody>
      </p:sp>
      <p:sp>
        <p:nvSpPr>
          <p:cNvPr id="35" name="Text Box 194"/>
          <p:cNvSpPr txBox="1">
            <a:spLocks noChangeArrowheads="1"/>
          </p:cNvSpPr>
          <p:nvPr/>
        </p:nvSpPr>
        <p:spPr bwMode="auto">
          <a:xfrm>
            <a:off x="11338559" y="914400"/>
            <a:ext cx="13350240"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INTRODUCTION</a:t>
            </a:r>
          </a:p>
        </p:txBody>
      </p:sp>
      <p:sp>
        <p:nvSpPr>
          <p:cNvPr id="36" name="Text Box 198"/>
          <p:cNvSpPr txBox="1">
            <a:spLocks noChangeArrowheads="1"/>
          </p:cNvSpPr>
          <p:nvPr/>
        </p:nvSpPr>
        <p:spPr bwMode="auto">
          <a:xfrm>
            <a:off x="25420320" y="20116800"/>
            <a:ext cx="13350240"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CONCLUSIONS</a:t>
            </a:r>
          </a:p>
        </p:txBody>
      </p:sp>
      <p:sp>
        <p:nvSpPr>
          <p:cNvPr id="37" name="Text Box 199"/>
          <p:cNvSpPr txBox="1">
            <a:spLocks noChangeArrowheads="1"/>
          </p:cNvSpPr>
          <p:nvPr/>
        </p:nvSpPr>
        <p:spPr bwMode="auto">
          <a:xfrm>
            <a:off x="25420320" y="914400"/>
            <a:ext cx="13350240"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RESULTS</a:t>
            </a:r>
          </a:p>
        </p:txBody>
      </p:sp>
      <p:sp>
        <p:nvSpPr>
          <p:cNvPr id="38" name="Text Box 240"/>
          <p:cNvSpPr txBox="1">
            <a:spLocks noChangeArrowheads="1"/>
          </p:cNvSpPr>
          <p:nvPr/>
        </p:nvSpPr>
        <p:spPr bwMode="auto">
          <a:xfrm>
            <a:off x="25831800" y="18720852"/>
            <a:ext cx="9695078" cy="51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GB" sz="2800" b="1" dirty="0">
                <a:solidFill>
                  <a:schemeClr val="accent1">
                    <a:lumMod val="50000"/>
                  </a:schemeClr>
                </a:solidFill>
                <a:latin typeface="Calibri" pitchFamily="34" charset="0"/>
              </a:rPr>
              <a:t>Figure </a:t>
            </a:r>
            <a:r>
              <a:rPr lang="en-GB" sz="2800" b="1" dirty="0" smtClean="0">
                <a:solidFill>
                  <a:schemeClr val="accent1">
                    <a:lumMod val="50000"/>
                  </a:schemeClr>
                </a:solidFill>
                <a:latin typeface="Calibri" pitchFamily="34" charset="0"/>
              </a:rPr>
              <a:t>5: </a:t>
            </a:r>
            <a:r>
              <a:rPr lang="en-GB" sz="2800" b="1" dirty="0">
                <a:solidFill>
                  <a:schemeClr val="accent1">
                    <a:lumMod val="50000"/>
                  </a:schemeClr>
                </a:solidFill>
                <a:latin typeface="Calibri" pitchFamily="34" charset="0"/>
              </a:rPr>
              <a:t>Improvement in test accuracy over 11 ablation studies.</a:t>
            </a:r>
            <a:endParaRPr lang="en-US" sz="2800" dirty="0">
              <a:solidFill>
                <a:schemeClr val="accent1">
                  <a:lumMod val="50000"/>
                </a:schemeClr>
              </a:solidFill>
              <a:latin typeface="Calibri" pitchFamily="34" charset="0"/>
            </a:endParaRPr>
          </a:p>
        </p:txBody>
      </p:sp>
      <p:pic>
        <p:nvPicPr>
          <p:cNvPr id="40" name="Picture 24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338559" y="27157407"/>
            <a:ext cx="6309360" cy="419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24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21439" y="34243288"/>
            <a:ext cx="5943600" cy="133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244"/>
          <p:cNvSpPr txBox="1">
            <a:spLocks noChangeArrowheads="1"/>
          </p:cNvSpPr>
          <p:nvPr/>
        </p:nvSpPr>
        <p:spPr bwMode="auto">
          <a:xfrm>
            <a:off x="11539761" y="31567583"/>
            <a:ext cx="4449988" cy="469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500" b="1" dirty="0">
                <a:solidFill>
                  <a:schemeClr val="accent1">
                    <a:lumMod val="50000"/>
                  </a:schemeClr>
                </a:solidFill>
                <a:latin typeface="Calibri" pitchFamily="34" charset="0"/>
              </a:rPr>
              <a:t>Figure 1.</a:t>
            </a:r>
            <a:r>
              <a:rPr lang="en-US" sz="2500" dirty="0">
                <a:solidFill>
                  <a:schemeClr val="accent1">
                    <a:lumMod val="50000"/>
                  </a:schemeClr>
                </a:solidFill>
                <a:latin typeface="Calibri" pitchFamily="34" charset="0"/>
              </a:rPr>
              <a:t> </a:t>
            </a:r>
            <a:r>
              <a:rPr lang="en-US" sz="2500" dirty="0" smtClean="0">
                <a:solidFill>
                  <a:schemeClr val="accent1">
                    <a:lumMod val="50000"/>
                  </a:schemeClr>
                </a:solidFill>
                <a:latin typeface="Calibri" pitchFamily="34" charset="0"/>
              </a:rPr>
              <a:t>Complete methodology</a:t>
            </a:r>
            <a:endParaRPr lang="en-US" sz="2500" dirty="0">
              <a:solidFill>
                <a:schemeClr val="accent1">
                  <a:lumMod val="50000"/>
                </a:schemeClr>
              </a:solidFill>
              <a:latin typeface="Calibri" pitchFamily="34" charset="0"/>
            </a:endParaRPr>
          </a:p>
        </p:txBody>
      </p:sp>
      <p:sp>
        <p:nvSpPr>
          <p:cNvPr id="43" name="Text Box 245"/>
          <p:cNvSpPr txBox="1">
            <a:spLocks noChangeArrowheads="1"/>
          </p:cNvSpPr>
          <p:nvPr/>
        </p:nvSpPr>
        <p:spPr bwMode="auto">
          <a:xfrm>
            <a:off x="11349147" y="37262387"/>
            <a:ext cx="6288184" cy="453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400" b="1" dirty="0">
                <a:solidFill>
                  <a:schemeClr val="accent1">
                    <a:lumMod val="50000"/>
                  </a:schemeClr>
                </a:solidFill>
                <a:latin typeface="Calibri" pitchFamily="34" charset="0"/>
              </a:rPr>
              <a:t>Figure </a:t>
            </a:r>
            <a:r>
              <a:rPr lang="en-US" sz="2400" b="1" dirty="0" smtClean="0">
                <a:solidFill>
                  <a:schemeClr val="accent1">
                    <a:lumMod val="50000"/>
                  </a:schemeClr>
                </a:solidFill>
                <a:latin typeface="Calibri" pitchFamily="34" charset="0"/>
              </a:rPr>
              <a:t>3.</a:t>
            </a:r>
            <a:r>
              <a:rPr lang="en-US" sz="2400" dirty="0" smtClean="0">
                <a:solidFill>
                  <a:schemeClr val="accent1">
                    <a:lumMod val="50000"/>
                  </a:schemeClr>
                </a:solidFill>
                <a:latin typeface="Calibri" pitchFamily="34" charset="0"/>
              </a:rPr>
              <a:t> Image preprocess and CCT architecture.</a:t>
            </a:r>
            <a:endParaRPr lang="en-US" sz="2400" dirty="0">
              <a:solidFill>
                <a:schemeClr val="accent1">
                  <a:lumMod val="50000"/>
                </a:schemeClr>
              </a:solidFill>
              <a:latin typeface="Calibri" pitchFamily="34" charset="0"/>
            </a:endParaRPr>
          </a:p>
        </p:txBody>
      </p:sp>
      <p:sp>
        <p:nvSpPr>
          <p:cNvPr id="44" name="Text Box 259"/>
          <p:cNvSpPr txBox="1">
            <a:spLocks noChangeArrowheads="1"/>
          </p:cNvSpPr>
          <p:nvPr/>
        </p:nvSpPr>
        <p:spPr bwMode="auto">
          <a:xfrm>
            <a:off x="11338559" y="14787383"/>
            <a:ext cx="13350240"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METHODS AND MATERIALS</a:t>
            </a:r>
          </a:p>
        </p:txBody>
      </p:sp>
      <p:sp>
        <p:nvSpPr>
          <p:cNvPr id="45" name="Text Box 261"/>
          <p:cNvSpPr txBox="1">
            <a:spLocks noChangeArrowheads="1"/>
          </p:cNvSpPr>
          <p:nvPr/>
        </p:nvSpPr>
        <p:spPr bwMode="auto">
          <a:xfrm>
            <a:off x="25420320" y="27830031"/>
            <a:ext cx="13350240"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endParaRPr lang="en-US" sz="5400" b="1" dirty="0">
              <a:solidFill>
                <a:schemeClr val="accent1">
                  <a:lumMod val="50000"/>
                </a:schemeClr>
              </a:solidFill>
              <a:latin typeface="Calibri" pitchFamily="34" charset="0"/>
            </a:endParaRPr>
          </a:p>
        </p:txBody>
      </p:sp>
      <p:sp>
        <p:nvSpPr>
          <p:cNvPr id="46" name="Text Box 262"/>
          <p:cNvSpPr txBox="1">
            <a:spLocks noChangeArrowheads="1"/>
          </p:cNvSpPr>
          <p:nvPr/>
        </p:nvSpPr>
        <p:spPr bwMode="auto">
          <a:xfrm>
            <a:off x="25589215" y="32417147"/>
            <a:ext cx="13350240" cy="109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09535" tIns="209535" rIns="209535" bIns="209535"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5400" b="1" dirty="0">
                <a:solidFill>
                  <a:schemeClr val="accent1">
                    <a:lumMod val="50000"/>
                  </a:schemeClr>
                </a:solidFill>
                <a:latin typeface="Calibri" pitchFamily="34" charset="0"/>
              </a:rPr>
              <a:t>REFERENCES</a:t>
            </a:r>
          </a:p>
        </p:txBody>
      </p:sp>
      <p:sp>
        <p:nvSpPr>
          <p:cNvPr id="48" name="Text Box 269"/>
          <p:cNvSpPr txBox="1">
            <a:spLocks noChangeArrowheads="1"/>
          </p:cNvSpPr>
          <p:nvPr/>
        </p:nvSpPr>
        <p:spPr bwMode="auto">
          <a:xfrm>
            <a:off x="25420320" y="21214080"/>
            <a:ext cx="13350240" cy="11203067"/>
          </a:xfrm>
          <a:prstGeom prst="rect">
            <a:avLst/>
          </a:prstGeom>
          <a:no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algn="just" defTabSz="4023067" fontAlgn="auto">
              <a:spcBef>
                <a:spcPts val="0"/>
              </a:spcBef>
              <a:spcAft>
                <a:spcPts val="0"/>
              </a:spcAft>
            </a:pPr>
            <a:r>
              <a:rPr lang="en-GB" sz="3200" dirty="0">
                <a:solidFill>
                  <a:prstClr val="black"/>
                </a:solidFill>
                <a:latin typeface="+mn-lt"/>
              </a:rPr>
              <a:t>A lung CAD system is developed in this work to classify lung images into four categories. DCGAN is applied to the dataset to balance the number of images and image pre-processing methods are utilized to eliminate noise and </a:t>
            </a:r>
            <a:r>
              <a:rPr lang="en-GB" sz="3200" dirty="0" err="1">
                <a:solidFill>
                  <a:prstClr val="black"/>
                </a:solidFill>
                <a:latin typeface="+mn-lt"/>
              </a:rPr>
              <a:t>artifacts</a:t>
            </a:r>
            <a:r>
              <a:rPr lang="en-GB" sz="3200" dirty="0">
                <a:solidFill>
                  <a:prstClr val="black"/>
                </a:solidFill>
                <a:latin typeface="+mn-lt"/>
              </a:rPr>
              <a:t> and to enhance the visibility of the ROIs of the images. We propose a MCCT model based on the original CCT model, as it outperforms CNNs in computational efficiency and accuracy. Our proposed network is subjected to ablation research in order to assess and improve the model's robustness, resulting in a training accuracy of 95.37%, a precision of 95.34%, a recall of 95.44% and an F1-score of 95.39%. The proposed model is compared with six transfer learning models, VGG19, VGG16, ResNet152, ResNet50, ResNet50V2, and </a:t>
            </a:r>
            <a:r>
              <a:rPr lang="en-GB" sz="3200" dirty="0" err="1">
                <a:solidFill>
                  <a:prstClr val="black"/>
                </a:solidFill>
                <a:latin typeface="+mn-lt"/>
              </a:rPr>
              <a:t>MobileNet</a:t>
            </a:r>
            <a:r>
              <a:rPr lang="en-GB" sz="3200" dirty="0">
                <a:solidFill>
                  <a:prstClr val="black"/>
                </a:solidFill>
                <a:latin typeface="+mn-lt"/>
              </a:rPr>
              <a:t> in terms of accuracy and training time. For the same set of 32×32-pixel images, the other models have accuracies ranging from 43% to 77%, whereas our model has an accuracy of 95.37%. The results of this study show that our suggested technique has produced an accurate lung disease classification model, when trained with 32×32-pixel input images. When training with large datasets, smaller size images might result in shorter training times and less storage space, which can be very advantageous. Our model also minimizes the number of trainable parameters, reducing the training time. The proposed model may help to correctly classify lung X-ray images in a very short time. Finally, we wish to evaluate the MCCT in a variety of datasets in order to assess its generalization and robustness in different medical image classification tasks.</a:t>
            </a:r>
            <a:endParaRPr lang="en-US" sz="3200" dirty="0" smtClean="0">
              <a:solidFill>
                <a:prstClr val="black"/>
              </a:solidFill>
              <a:latin typeface="+mn-lt"/>
            </a:endParaRPr>
          </a:p>
        </p:txBody>
      </p:sp>
      <p:sp>
        <p:nvSpPr>
          <p:cNvPr id="49" name="Text Box 270"/>
          <p:cNvSpPr txBox="1">
            <a:spLocks noChangeArrowheads="1"/>
          </p:cNvSpPr>
          <p:nvPr/>
        </p:nvSpPr>
        <p:spPr bwMode="auto">
          <a:xfrm>
            <a:off x="11338559" y="16103310"/>
            <a:ext cx="13350240" cy="10218182"/>
          </a:xfrm>
          <a:prstGeom prst="rect">
            <a:avLst/>
          </a:prstGeom>
          <a:no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algn="just" defTabSz="4023067" fontAlgn="auto">
              <a:spcBef>
                <a:spcPts val="0"/>
              </a:spcBef>
              <a:spcAft>
                <a:spcPts val="0"/>
              </a:spcAft>
            </a:pPr>
            <a:r>
              <a:rPr lang="en-GB" sz="3200" dirty="0">
                <a:solidFill>
                  <a:prstClr val="black"/>
                </a:solidFill>
                <a:latin typeface="Calibri" pitchFamily="34" charset="0"/>
              </a:rPr>
              <a:t>The Covid19 Radiography Chest X-ray dataset is used to conduct all the experiments in this study. The Data augmentation technique DCGAN is introduced to deal with the data imbalance problem by generating new images. Afterwards, several image </a:t>
            </a:r>
            <a:r>
              <a:rPr lang="en-GB" sz="3200" dirty="0" smtClean="0">
                <a:solidFill>
                  <a:prstClr val="black"/>
                </a:solidFill>
                <a:latin typeface="Calibri" pitchFamily="34" charset="0"/>
              </a:rPr>
              <a:t>pre-processing </a:t>
            </a:r>
            <a:r>
              <a:rPr lang="en-GB" sz="3200" dirty="0">
                <a:solidFill>
                  <a:prstClr val="black"/>
                </a:solidFill>
                <a:latin typeface="Calibri" pitchFamily="34" charset="0"/>
              </a:rPr>
              <a:t>algorithms are applied on the augmented balanced dataset to remove the </a:t>
            </a:r>
            <a:r>
              <a:rPr lang="en-GB" sz="3200" dirty="0" smtClean="0">
                <a:solidFill>
                  <a:prstClr val="black"/>
                </a:solidFill>
                <a:latin typeface="Calibri" pitchFamily="34" charset="0"/>
              </a:rPr>
              <a:t>artefacts </a:t>
            </a:r>
            <a:r>
              <a:rPr lang="en-GB" sz="3200" dirty="0">
                <a:solidFill>
                  <a:prstClr val="black"/>
                </a:solidFill>
                <a:latin typeface="Calibri" pitchFamily="34" charset="0"/>
              </a:rPr>
              <a:t>and enhance the images. Statistical analysis methods, Peak signal-to-noise ratio (PSNR), Mean Squared Error (MSE), and Root Mean Squared Error (RMSE), and the structural similarity index measure (SSIM), are used to assess ensure that image quality is not reduced. The </a:t>
            </a:r>
            <a:r>
              <a:rPr lang="en-GB" sz="3200" dirty="0" smtClean="0">
                <a:solidFill>
                  <a:prstClr val="black"/>
                </a:solidFill>
                <a:latin typeface="Calibri" pitchFamily="34" charset="0"/>
              </a:rPr>
              <a:t>pre-processed </a:t>
            </a:r>
            <a:r>
              <a:rPr lang="en-GB" sz="3200" dirty="0">
                <a:solidFill>
                  <a:prstClr val="black"/>
                </a:solidFill>
                <a:latin typeface="Calibri" pitchFamily="34" charset="0"/>
              </a:rPr>
              <a:t>dataset is split into training, validation and testing before feeding the images into the deep learning models. We propose a MCCT model using an image size of 32 x 32 by modifying the layer architecture and hyper parameters of an original CCT model. An ablation study of eleven cases is done to ensure the best performance while addressing the time complexity. The performance of the MCCT model is compared with five deep learning models, VGG16, VGG19, ResNet152, ResNet50, ResNet50V2 and </a:t>
            </a:r>
            <a:r>
              <a:rPr lang="en-GB" sz="3200" dirty="0" err="1">
                <a:solidFill>
                  <a:prstClr val="black"/>
                </a:solidFill>
                <a:latin typeface="Calibri" pitchFamily="34" charset="0"/>
              </a:rPr>
              <a:t>MobileNet</a:t>
            </a:r>
            <a:r>
              <a:rPr lang="en-GB" sz="3200" dirty="0">
                <a:solidFill>
                  <a:prstClr val="black"/>
                </a:solidFill>
                <a:latin typeface="Calibri" pitchFamily="34" charset="0"/>
              </a:rPr>
              <a:t>, in terms of training time and accuracy for an image size of 32×32, Several performance metrics are evaluated and the possible occurrence overfitting is assessed. The robustness of the model is evaluated further by evaluating the performance with a decreasing the number of images.  All processes are described briefly in the sections and sub-sections below</a:t>
            </a:r>
            <a:endParaRPr lang="en-US" sz="3200" dirty="0">
              <a:solidFill>
                <a:prstClr val="black"/>
              </a:solidFill>
              <a:latin typeface="Calibri" pitchFamily="34" charset="0"/>
            </a:endParaRPr>
          </a:p>
        </p:txBody>
      </p:sp>
      <p:sp>
        <p:nvSpPr>
          <p:cNvPr id="51" name="Text Box 272"/>
          <p:cNvSpPr txBox="1">
            <a:spLocks noChangeArrowheads="1"/>
          </p:cNvSpPr>
          <p:nvPr/>
        </p:nvSpPr>
        <p:spPr bwMode="auto">
          <a:xfrm>
            <a:off x="11338559" y="2011680"/>
            <a:ext cx="13167361" cy="12187952"/>
          </a:xfrm>
          <a:prstGeom prst="rect">
            <a:avLst/>
          </a:prstGeom>
          <a:noFill/>
          <a:ln>
            <a:noFill/>
          </a:ln>
          <a:effectLst/>
        </p:spPr>
        <p:txBody>
          <a:bodyPr wrap="square"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algn="just" defTabSz="4023067" fontAlgn="auto">
              <a:spcBef>
                <a:spcPts val="0"/>
              </a:spcBef>
              <a:spcAft>
                <a:spcPts val="0"/>
              </a:spcAft>
            </a:pPr>
            <a:r>
              <a:rPr lang="en-GB" sz="3200" dirty="0" smtClean="0">
                <a:solidFill>
                  <a:prstClr val="black"/>
                </a:solidFill>
                <a:latin typeface="+mn-lt"/>
              </a:rPr>
              <a:t>In </a:t>
            </a:r>
            <a:r>
              <a:rPr lang="en-GB" sz="3200" dirty="0">
                <a:solidFill>
                  <a:prstClr val="black"/>
                </a:solidFill>
                <a:latin typeface="+mn-lt"/>
              </a:rPr>
              <a:t>this study, the COVID-19 Radiography dataset is used for the automatic detection and classification of lung diseases into COVID-19, Normal, Lung Opacity, and Viral Pneumonia. In this context, the issues of training time and complexity, smaller medical datasets, imbalanced number of images and dealing with low resolution images are addressed with noteworthy performance, The main contributions can be summarized as follows:</a:t>
            </a:r>
          </a:p>
          <a:p>
            <a:pPr lvl="0" algn="just" defTabSz="4023067" fontAlgn="auto">
              <a:spcBef>
                <a:spcPts val="0"/>
              </a:spcBef>
              <a:spcAft>
                <a:spcPts val="0"/>
              </a:spcAft>
            </a:pPr>
            <a:r>
              <a:rPr lang="en-GB" sz="3200" dirty="0" err="1" smtClean="0">
                <a:solidFill>
                  <a:prstClr val="black"/>
                </a:solidFill>
                <a:latin typeface="+mn-lt"/>
              </a:rPr>
              <a:t>i</a:t>
            </a:r>
            <a:r>
              <a:rPr lang="en-GB" sz="3200" dirty="0" smtClean="0">
                <a:solidFill>
                  <a:prstClr val="black"/>
                </a:solidFill>
                <a:latin typeface="+mn-lt"/>
              </a:rPr>
              <a:t>. The </a:t>
            </a:r>
            <a:r>
              <a:rPr lang="en-GB" sz="3200" dirty="0">
                <a:solidFill>
                  <a:prstClr val="black"/>
                </a:solidFill>
                <a:latin typeface="+mn-lt"/>
              </a:rPr>
              <a:t>dataset used for the experiment, contains imbalance number of images. The dataset is balanced by Generative Adversarial Network (GAN). </a:t>
            </a:r>
          </a:p>
          <a:p>
            <a:pPr lvl="0" algn="just" defTabSz="4023067" fontAlgn="auto">
              <a:spcBef>
                <a:spcPts val="0"/>
              </a:spcBef>
              <a:spcAft>
                <a:spcPts val="0"/>
              </a:spcAft>
            </a:pPr>
            <a:r>
              <a:rPr lang="en-GB" sz="3200" dirty="0" smtClean="0">
                <a:solidFill>
                  <a:prstClr val="black"/>
                </a:solidFill>
                <a:latin typeface="+mn-lt"/>
              </a:rPr>
              <a:t>ii. A </a:t>
            </a:r>
            <a:r>
              <a:rPr lang="en-GB" sz="3200" dirty="0">
                <a:solidFill>
                  <a:prstClr val="black"/>
                </a:solidFill>
                <a:latin typeface="+mn-lt"/>
              </a:rPr>
              <a:t>number of image </a:t>
            </a:r>
            <a:r>
              <a:rPr lang="en-GB" sz="3200" dirty="0" smtClean="0">
                <a:solidFill>
                  <a:prstClr val="black"/>
                </a:solidFill>
                <a:latin typeface="+mn-lt"/>
              </a:rPr>
              <a:t>pre-processing </a:t>
            </a:r>
            <a:r>
              <a:rPr lang="en-GB" sz="3200" dirty="0">
                <a:solidFill>
                  <a:prstClr val="black"/>
                </a:solidFill>
                <a:latin typeface="+mn-lt"/>
              </a:rPr>
              <a:t>techniques are carried out to remove </a:t>
            </a:r>
            <a:r>
              <a:rPr lang="en-GB" sz="3200" dirty="0" smtClean="0">
                <a:solidFill>
                  <a:prstClr val="black"/>
                </a:solidFill>
                <a:latin typeface="+mn-lt"/>
              </a:rPr>
              <a:t>artefacts </a:t>
            </a:r>
            <a:r>
              <a:rPr lang="en-GB" sz="3200" dirty="0">
                <a:solidFill>
                  <a:prstClr val="black"/>
                </a:solidFill>
                <a:latin typeface="+mn-lt"/>
              </a:rPr>
              <a:t>and enhance the quality of the </a:t>
            </a:r>
            <a:r>
              <a:rPr lang="en-GB" sz="3200" dirty="0" smtClean="0">
                <a:solidFill>
                  <a:prstClr val="black"/>
                </a:solidFill>
                <a:latin typeface="+mn-lt"/>
              </a:rPr>
              <a:t>images. </a:t>
            </a:r>
          </a:p>
          <a:p>
            <a:pPr lvl="0" algn="just" defTabSz="4023067" fontAlgn="auto">
              <a:spcBef>
                <a:spcPts val="0"/>
              </a:spcBef>
              <a:spcAft>
                <a:spcPts val="0"/>
              </a:spcAft>
            </a:pPr>
            <a:r>
              <a:rPr lang="en-GB" sz="3200" dirty="0" smtClean="0">
                <a:solidFill>
                  <a:prstClr val="black"/>
                </a:solidFill>
                <a:latin typeface="+mn-lt"/>
              </a:rPr>
              <a:t>iii. To </a:t>
            </a:r>
            <a:r>
              <a:rPr lang="en-GB" sz="3200" dirty="0">
                <a:solidFill>
                  <a:prstClr val="black"/>
                </a:solidFill>
                <a:latin typeface="+mn-lt"/>
              </a:rPr>
              <a:t>address the issues of high training time and low numbers of images, we propose a model named MCCT by modifying an original CCT model for the automatic classification of lung </a:t>
            </a:r>
            <a:r>
              <a:rPr lang="en-GB" sz="3200" dirty="0" smtClean="0">
                <a:solidFill>
                  <a:prstClr val="black"/>
                </a:solidFill>
                <a:latin typeface="+mn-lt"/>
              </a:rPr>
              <a:t>diseases. </a:t>
            </a:r>
          </a:p>
          <a:p>
            <a:pPr lvl="0" algn="just" defTabSz="4023067" fontAlgn="auto">
              <a:spcBef>
                <a:spcPts val="0"/>
              </a:spcBef>
              <a:spcAft>
                <a:spcPts val="0"/>
              </a:spcAft>
            </a:pPr>
            <a:r>
              <a:rPr lang="en-GB" sz="3200" dirty="0" smtClean="0">
                <a:solidFill>
                  <a:prstClr val="black"/>
                </a:solidFill>
                <a:latin typeface="+mn-lt"/>
              </a:rPr>
              <a:t>iv. An </a:t>
            </a:r>
            <a:r>
              <a:rPr lang="en-GB" sz="3200" dirty="0">
                <a:solidFill>
                  <a:prstClr val="black"/>
                </a:solidFill>
                <a:latin typeface="+mn-lt"/>
              </a:rPr>
              <a:t>ablation study is performed by changing different hyper-parameters </a:t>
            </a:r>
            <a:r>
              <a:rPr lang="en-GB" sz="3200" dirty="0" smtClean="0">
                <a:solidFill>
                  <a:prstClr val="black"/>
                </a:solidFill>
                <a:latin typeface="+mn-lt"/>
              </a:rPr>
              <a:t>and </a:t>
            </a:r>
            <a:r>
              <a:rPr lang="en-GB" sz="3200" dirty="0">
                <a:solidFill>
                  <a:prstClr val="black"/>
                </a:solidFill>
                <a:latin typeface="+mn-lt"/>
              </a:rPr>
              <a:t>the layer architecture of the proposed model to further improve the performance. </a:t>
            </a:r>
            <a:endParaRPr lang="en-GB" sz="3200" dirty="0" smtClean="0">
              <a:solidFill>
                <a:prstClr val="black"/>
              </a:solidFill>
              <a:latin typeface="+mn-lt"/>
            </a:endParaRPr>
          </a:p>
          <a:p>
            <a:pPr lvl="0" algn="just" defTabSz="4023067" fontAlgn="auto">
              <a:spcBef>
                <a:spcPts val="0"/>
              </a:spcBef>
              <a:spcAft>
                <a:spcPts val="0"/>
              </a:spcAft>
            </a:pPr>
            <a:r>
              <a:rPr lang="en-GB" sz="3200" dirty="0" smtClean="0">
                <a:solidFill>
                  <a:prstClr val="black"/>
                </a:solidFill>
                <a:latin typeface="+mn-lt"/>
              </a:rPr>
              <a:t>v. Several </a:t>
            </a:r>
            <a:r>
              <a:rPr lang="en-GB" sz="3200" dirty="0">
                <a:solidFill>
                  <a:prstClr val="black"/>
                </a:solidFill>
                <a:latin typeface="+mn-lt"/>
              </a:rPr>
              <a:t>transfer learning models, are applied to our dataset to compare the performance of the proposed MCCT </a:t>
            </a:r>
            <a:r>
              <a:rPr lang="en-GB" sz="3200" dirty="0" smtClean="0">
                <a:solidFill>
                  <a:prstClr val="black"/>
                </a:solidFill>
                <a:latin typeface="+mn-lt"/>
              </a:rPr>
              <a:t>model. </a:t>
            </a:r>
          </a:p>
          <a:p>
            <a:pPr lvl="0" algn="just" defTabSz="4023067" fontAlgn="auto">
              <a:spcBef>
                <a:spcPts val="0"/>
              </a:spcBef>
              <a:spcAft>
                <a:spcPts val="0"/>
              </a:spcAft>
            </a:pPr>
            <a:r>
              <a:rPr lang="en-GB" sz="3200" dirty="0" smtClean="0">
                <a:solidFill>
                  <a:prstClr val="black"/>
                </a:solidFill>
                <a:latin typeface="+mn-lt"/>
              </a:rPr>
              <a:t>vi. To </a:t>
            </a:r>
            <a:r>
              <a:rPr lang="en-GB" sz="3200" dirty="0">
                <a:solidFill>
                  <a:prstClr val="black"/>
                </a:solidFill>
                <a:latin typeface="+mn-lt"/>
              </a:rPr>
              <a:t>evaluate the generalization capability and sustainability of our model even further in terms of volume of the training dataset, the model is trained four times, gradually decreasing the number of </a:t>
            </a:r>
            <a:r>
              <a:rPr lang="en-GB" sz="3200" dirty="0" smtClean="0">
                <a:solidFill>
                  <a:prstClr val="black"/>
                </a:solidFill>
                <a:latin typeface="+mn-lt"/>
              </a:rPr>
              <a:t>images. </a:t>
            </a:r>
          </a:p>
          <a:p>
            <a:pPr lvl="0" algn="just" defTabSz="4023067" fontAlgn="auto">
              <a:spcBef>
                <a:spcPts val="0"/>
              </a:spcBef>
              <a:spcAft>
                <a:spcPts val="0"/>
              </a:spcAft>
            </a:pPr>
            <a:r>
              <a:rPr lang="en-GB" sz="3200" dirty="0" smtClean="0">
                <a:solidFill>
                  <a:prstClr val="black"/>
                </a:solidFill>
                <a:latin typeface="+mn-lt"/>
              </a:rPr>
              <a:t>vii. From </a:t>
            </a:r>
            <a:r>
              <a:rPr lang="en-GB" sz="3200" dirty="0">
                <a:solidFill>
                  <a:prstClr val="black"/>
                </a:solidFill>
                <a:latin typeface="+mn-lt"/>
              </a:rPr>
              <a:t>result it is found that our proposed MCCT model outperforms the transfer learning models in terms of accuracy and training time while using 32×32 sized images as training data.</a:t>
            </a:r>
          </a:p>
        </p:txBody>
      </p:sp>
      <p:sp>
        <p:nvSpPr>
          <p:cNvPr id="52" name="Text Box 273"/>
          <p:cNvSpPr txBox="1">
            <a:spLocks noChangeArrowheads="1"/>
          </p:cNvSpPr>
          <p:nvPr/>
        </p:nvSpPr>
        <p:spPr bwMode="auto">
          <a:xfrm>
            <a:off x="25420320" y="33905567"/>
            <a:ext cx="13350240" cy="4985980"/>
          </a:xfrm>
          <a:prstGeom prst="rect">
            <a:avLst/>
          </a:prstGeom>
          <a:noFill/>
          <a:ln>
            <a:noFill/>
          </a:ln>
          <a:effectLst/>
        </p:spPr>
        <p:txBody>
          <a:bodyPr lIns="182880" tIns="182880" rIns="182880" bIns="182880">
            <a:spAutoFit/>
          </a:bodyPr>
          <a:lstStyle>
            <a:lvl1pPr marL="419100" indent="-419100" defTabSz="838200">
              <a:defRPr>
                <a:solidFill>
                  <a:schemeClr val="tx1"/>
                </a:solidFill>
                <a:latin typeface="Arial" pitchFamily="34" charset="0"/>
              </a:defRPr>
            </a:lvl1pPr>
            <a:lvl2pPr marL="890588" indent="-314325" defTabSz="838200">
              <a:defRPr>
                <a:solidFill>
                  <a:schemeClr val="tx1"/>
                </a:solidFill>
                <a:latin typeface="Arial" pitchFamily="34" charset="0"/>
              </a:defRPr>
            </a:lvl2pPr>
            <a:lvl3pPr marL="1309688" indent="-314325" defTabSz="838200">
              <a:defRPr>
                <a:solidFill>
                  <a:schemeClr val="tx1"/>
                </a:solidFill>
                <a:latin typeface="Arial" pitchFamily="34" charset="0"/>
              </a:defRPr>
            </a:lvl3pPr>
            <a:lvl4pPr marL="1728788" indent="-314325" defTabSz="838200">
              <a:defRPr>
                <a:solidFill>
                  <a:schemeClr val="tx1"/>
                </a:solidFill>
                <a:latin typeface="Arial" pitchFamily="34" charset="0"/>
              </a:defRPr>
            </a:lvl4pPr>
            <a:lvl5pPr marL="2147888" indent="-314325" defTabSz="838200">
              <a:defRPr>
                <a:solidFill>
                  <a:schemeClr val="tx1"/>
                </a:solidFill>
                <a:latin typeface="Arial" pitchFamily="34" charset="0"/>
              </a:defRPr>
            </a:lvl5pPr>
            <a:lvl6pPr marL="2605088" indent="-314325" defTabSz="838200" fontAlgn="base">
              <a:spcBef>
                <a:spcPct val="0"/>
              </a:spcBef>
              <a:spcAft>
                <a:spcPct val="0"/>
              </a:spcAft>
              <a:defRPr>
                <a:solidFill>
                  <a:schemeClr val="tx1"/>
                </a:solidFill>
                <a:latin typeface="Arial" pitchFamily="34" charset="0"/>
              </a:defRPr>
            </a:lvl6pPr>
            <a:lvl7pPr marL="3062288" indent="-314325" defTabSz="838200" fontAlgn="base">
              <a:spcBef>
                <a:spcPct val="0"/>
              </a:spcBef>
              <a:spcAft>
                <a:spcPct val="0"/>
              </a:spcAft>
              <a:defRPr>
                <a:solidFill>
                  <a:schemeClr val="tx1"/>
                </a:solidFill>
                <a:latin typeface="Arial" pitchFamily="34" charset="0"/>
              </a:defRPr>
            </a:lvl7pPr>
            <a:lvl8pPr marL="3519488" indent="-314325" defTabSz="838200" fontAlgn="base">
              <a:spcBef>
                <a:spcPct val="0"/>
              </a:spcBef>
              <a:spcAft>
                <a:spcPct val="0"/>
              </a:spcAft>
              <a:defRPr>
                <a:solidFill>
                  <a:schemeClr val="tx1"/>
                </a:solidFill>
                <a:latin typeface="Arial" pitchFamily="34" charset="0"/>
              </a:defRPr>
            </a:lvl8pPr>
            <a:lvl9pPr marL="3976688" indent="-314325" defTabSz="838200" fontAlgn="base">
              <a:spcBef>
                <a:spcPct val="0"/>
              </a:spcBef>
              <a:spcAft>
                <a:spcPct val="0"/>
              </a:spcAft>
              <a:defRPr>
                <a:solidFill>
                  <a:schemeClr val="tx1"/>
                </a:solidFill>
                <a:latin typeface="Arial" pitchFamily="34" charset="0"/>
              </a:defRPr>
            </a:lvl9pPr>
          </a:lstStyle>
          <a:p>
            <a:pPr algn="just">
              <a:spcAft>
                <a:spcPct val="50000"/>
              </a:spcAft>
              <a:buFontTx/>
              <a:buAutoNum type="arabicPeriod"/>
            </a:pPr>
            <a:r>
              <a:rPr lang="en-GB" sz="2400" dirty="0" err="1" smtClean="0">
                <a:latin typeface="Calibri" pitchFamily="34" charset="0"/>
              </a:rPr>
              <a:t>Hassani</a:t>
            </a:r>
            <a:r>
              <a:rPr lang="en-GB" sz="2400" dirty="0">
                <a:latin typeface="Calibri" pitchFamily="34" charset="0"/>
              </a:rPr>
              <a:t>, A., Walton, S., Shah, N., </a:t>
            </a:r>
            <a:r>
              <a:rPr lang="en-GB" sz="2400" dirty="0" err="1">
                <a:latin typeface="Calibri" pitchFamily="34" charset="0"/>
              </a:rPr>
              <a:t>Abuduweili</a:t>
            </a:r>
            <a:r>
              <a:rPr lang="en-GB" sz="2400" dirty="0">
                <a:latin typeface="Calibri" pitchFamily="34" charset="0"/>
              </a:rPr>
              <a:t>, A., Li, J., Shi, H., 2021. Escaping the big data paradigm with compact transformers</a:t>
            </a:r>
            <a:r>
              <a:rPr lang="en-GB" sz="2400" dirty="0" smtClean="0">
                <a:latin typeface="Calibri" pitchFamily="34" charset="0"/>
              </a:rPr>
              <a:t>.</a:t>
            </a:r>
          </a:p>
          <a:p>
            <a:pPr algn="just">
              <a:spcAft>
                <a:spcPct val="50000"/>
              </a:spcAft>
              <a:buFontTx/>
              <a:buAutoNum type="arabicPeriod"/>
            </a:pPr>
            <a:r>
              <a:rPr lang="en-US" sz="2400" dirty="0" err="1">
                <a:latin typeface="Calibri" pitchFamily="34" charset="0"/>
              </a:rPr>
              <a:t>Montaha</a:t>
            </a:r>
            <a:r>
              <a:rPr lang="en-US" sz="2400" dirty="0">
                <a:latin typeface="Calibri" pitchFamily="34" charset="0"/>
              </a:rPr>
              <a:t>, S., </a:t>
            </a:r>
            <a:r>
              <a:rPr lang="en-US" sz="2400" dirty="0" err="1">
                <a:latin typeface="Calibri" pitchFamily="34" charset="0"/>
              </a:rPr>
              <a:t>Azam</a:t>
            </a:r>
            <a:r>
              <a:rPr lang="en-US" sz="2400" dirty="0">
                <a:latin typeface="Calibri" pitchFamily="34" charset="0"/>
              </a:rPr>
              <a:t>, S., </a:t>
            </a:r>
            <a:r>
              <a:rPr lang="en-US" sz="2400" dirty="0" err="1">
                <a:latin typeface="Calibri" pitchFamily="34" charset="0"/>
              </a:rPr>
              <a:t>Rafid</a:t>
            </a:r>
            <a:r>
              <a:rPr lang="en-US" sz="2400" dirty="0">
                <a:latin typeface="Calibri" pitchFamily="34" charset="0"/>
              </a:rPr>
              <a:t>, A.K.M.R.H., Ghosh, P., Hasan, M.Z., </a:t>
            </a:r>
            <a:r>
              <a:rPr lang="en-US" sz="2400" dirty="0" err="1">
                <a:latin typeface="Calibri" pitchFamily="34" charset="0"/>
              </a:rPr>
              <a:t>Jonkman</a:t>
            </a:r>
            <a:r>
              <a:rPr lang="en-US" sz="2400" dirty="0">
                <a:latin typeface="Calibri" pitchFamily="34" charset="0"/>
              </a:rPr>
              <a:t>, M., de Boer, F., 2021. BreastNet18: A high accuracy fine-tuned VGG16 model evaluated using ablation study for diagnosing breast cancer from enhanced mammography images. Biology (Basel) 10, </a:t>
            </a:r>
            <a:r>
              <a:rPr lang="en-US" sz="2400" dirty="0" smtClean="0">
                <a:latin typeface="Calibri" pitchFamily="34" charset="0"/>
              </a:rPr>
              <a:t>1347.</a:t>
            </a:r>
          </a:p>
          <a:p>
            <a:pPr algn="just">
              <a:spcAft>
                <a:spcPct val="50000"/>
              </a:spcAft>
              <a:buFontTx/>
              <a:buAutoNum type="arabicPeriod"/>
            </a:pPr>
            <a:r>
              <a:rPr lang="en-US" sz="2400" dirty="0">
                <a:latin typeface="Calibri" pitchFamily="34" charset="0"/>
              </a:rPr>
              <a:t>Bowles, C., Chen, L., Guerrero, R., Bentley, P., Gunn R and Hammers, A., Dickie, D.A., Hernández, M. v, </a:t>
            </a:r>
            <a:r>
              <a:rPr lang="en-US" sz="2400" dirty="0" err="1">
                <a:latin typeface="Calibri" pitchFamily="34" charset="0"/>
              </a:rPr>
              <a:t>Wardlaw</a:t>
            </a:r>
            <a:r>
              <a:rPr lang="en-US" sz="2400" dirty="0">
                <a:latin typeface="Calibri" pitchFamily="34" charset="0"/>
              </a:rPr>
              <a:t>, J., </a:t>
            </a:r>
            <a:r>
              <a:rPr lang="en-US" sz="2400" dirty="0" err="1">
                <a:latin typeface="Calibri" pitchFamily="34" charset="0"/>
              </a:rPr>
              <a:t>Rueckert</a:t>
            </a:r>
            <a:r>
              <a:rPr lang="en-US" sz="2400" dirty="0">
                <a:latin typeface="Calibri" pitchFamily="34" charset="0"/>
              </a:rPr>
              <a:t>, D., 2018. </a:t>
            </a:r>
            <a:r>
              <a:rPr lang="en-US" sz="2400" dirty="0" err="1">
                <a:latin typeface="Calibri" pitchFamily="34" charset="0"/>
              </a:rPr>
              <a:t>Gan</a:t>
            </a:r>
            <a:r>
              <a:rPr lang="en-US" sz="2400" dirty="0">
                <a:latin typeface="Calibri" pitchFamily="34" charset="0"/>
              </a:rPr>
              <a:t> augmentation: Augmenting training data using generative adversarial networks</a:t>
            </a:r>
            <a:r>
              <a:rPr lang="en-US" sz="2400" dirty="0" smtClean="0">
                <a:latin typeface="Calibri" pitchFamily="34" charset="0"/>
              </a:rPr>
              <a:t>.</a:t>
            </a:r>
          </a:p>
          <a:p>
            <a:pPr algn="just">
              <a:spcAft>
                <a:spcPct val="50000"/>
              </a:spcAft>
              <a:buFontTx/>
              <a:buAutoNum type="arabicPeriod"/>
            </a:pPr>
            <a:r>
              <a:rPr lang="en-US" sz="2400" dirty="0" err="1">
                <a:latin typeface="Calibri" pitchFamily="34" charset="0"/>
              </a:rPr>
              <a:t>Dosovitskiy</a:t>
            </a:r>
            <a:r>
              <a:rPr lang="en-US" sz="2400" dirty="0">
                <a:latin typeface="Calibri" pitchFamily="34" charset="0"/>
              </a:rPr>
              <a:t> A, Beyer L, </a:t>
            </a:r>
            <a:r>
              <a:rPr lang="en-US" sz="2400" dirty="0" err="1">
                <a:latin typeface="Calibri" pitchFamily="34" charset="0"/>
              </a:rPr>
              <a:t>Kolesnikov</a:t>
            </a:r>
            <a:r>
              <a:rPr lang="en-US" sz="2400" dirty="0">
                <a:latin typeface="Calibri" pitchFamily="34" charset="0"/>
              </a:rPr>
              <a:t> A, </a:t>
            </a:r>
            <a:r>
              <a:rPr lang="en-US" sz="2400" dirty="0" err="1">
                <a:latin typeface="Calibri" pitchFamily="34" charset="0"/>
              </a:rPr>
              <a:t>Weissenborn</a:t>
            </a:r>
            <a:r>
              <a:rPr lang="en-US" sz="2400" dirty="0">
                <a:latin typeface="Calibri" pitchFamily="34" charset="0"/>
              </a:rPr>
              <a:t> D, </a:t>
            </a:r>
            <a:r>
              <a:rPr lang="en-US" sz="2400" dirty="0" err="1">
                <a:latin typeface="Calibri" pitchFamily="34" charset="0"/>
              </a:rPr>
              <a:t>Zhai</a:t>
            </a:r>
            <a:r>
              <a:rPr lang="en-US" sz="2400" dirty="0">
                <a:latin typeface="Calibri" pitchFamily="34" charset="0"/>
              </a:rPr>
              <a:t> X, </a:t>
            </a:r>
            <a:r>
              <a:rPr lang="en-US" sz="2400" dirty="0" err="1">
                <a:latin typeface="Calibri" pitchFamily="34" charset="0"/>
              </a:rPr>
              <a:t>Unterthiner</a:t>
            </a:r>
            <a:r>
              <a:rPr lang="en-US" sz="2400" dirty="0">
                <a:latin typeface="Calibri" pitchFamily="34" charset="0"/>
              </a:rPr>
              <a:t> T, et al. An Image is Worth 16x16 Words: Transformers for Image Recognition at Scale. 2020 [cited 20 Oct 2022]. doi:10.48550/arxiv.2010.11929</a:t>
            </a:r>
            <a:endParaRPr lang="en-US" sz="2400" dirty="0" smtClean="0">
              <a:latin typeface="Calibri" pitchFamily="34" charset="0"/>
            </a:endParaRPr>
          </a:p>
        </p:txBody>
      </p:sp>
      <p:pic>
        <p:nvPicPr>
          <p:cNvPr id="57" name="Picture 24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8235188" y="32867520"/>
            <a:ext cx="6392460" cy="4082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24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8192389" y="27252608"/>
            <a:ext cx="6217920" cy="419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 Box 244"/>
          <p:cNvSpPr txBox="1">
            <a:spLocks noChangeArrowheads="1"/>
          </p:cNvSpPr>
          <p:nvPr/>
        </p:nvSpPr>
        <p:spPr bwMode="auto">
          <a:xfrm>
            <a:off x="18288000" y="31567583"/>
            <a:ext cx="3665479" cy="469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500" b="1" dirty="0">
                <a:solidFill>
                  <a:schemeClr val="accent1">
                    <a:lumMod val="50000"/>
                  </a:schemeClr>
                </a:solidFill>
                <a:latin typeface="Calibri" pitchFamily="34" charset="0"/>
              </a:rPr>
              <a:t>Figure </a:t>
            </a:r>
            <a:r>
              <a:rPr lang="en-US" sz="2500" b="1" dirty="0" smtClean="0">
                <a:solidFill>
                  <a:schemeClr val="accent1">
                    <a:lumMod val="50000"/>
                  </a:schemeClr>
                </a:solidFill>
                <a:latin typeface="Calibri" pitchFamily="34" charset="0"/>
              </a:rPr>
              <a:t>2.</a:t>
            </a:r>
            <a:r>
              <a:rPr lang="en-US" sz="2500" dirty="0" smtClean="0">
                <a:solidFill>
                  <a:schemeClr val="accent1">
                    <a:lumMod val="50000"/>
                  </a:schemeClr>
                </a:solidFill>
                <a:latin typeface="Calibri" pitchFamily="34" charset="0"/>
              </a:rPr>
              <a:t> GAN Architecture</a:t>
            </a:r>
            <a:endParaRPr lang="en-US" sz="2500" dirty="0">
              <a:solidFill>
                <a:schemeClr val="accent1">
                  <a:lumMod val="50000"/>
                </a:schemeClr>
              </a:solidFill>
              <a:latin typeface="Calibri" pitchFamily="34" charset="0"/>
            </a:endParaRPr>
          </a:p>
        </p:txBody>
      </p:sp>
      <p:sp>
        <p:nvSpPr>
          <p:cNvPr id="60" name="Text Box 245"/>
          <p:cNvSpPr txBox="1">
            <a:spLocks noChangeArrowheads="1"/>
          </p:cNvSpPr>
          <p:nvPr/>
        </p:nvSpPr>
        <p:spPr bwMode="auto">
          <a:xfrm>
            <a:off x="18288000" y="37176964"/>
            <a:ext cx="5012514" cy="453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400" b="1" dirty="0">
                <a:solidFill>
                  <a:schemeClr val="accent1">
                    <a:lumMod val="50000"/>
                  </a:schemeClr>
                </a:solidFill>
                <a:latin typeface="Calibri" pitchFamily="34" charset="0"/>
              </a:rPr>
              <a:t>Figure </a:t>
            </a:r>
            <a:r>
              <a:rPr lang="en-US" sz="2400" b="1" dirty="0" smtClean="0">
                <a:solidFill>
                  <a:schemeClr val="accent1">
                    <a:lumMod val="50000"/>
                  </a:schemeClr>
                </a:solidFill>
                <a:latin typeface="Calibri" pitchFamily="34" charset="0"/>
              </a:rPr>
              <a:t>4.</a:t>
            </a:r>
            <a:r>
              <a:rPr lang="en-US" sz="2400" dirty="0" smtClean="0">
                <a:solidFill>
                  <a:schemeClr val="accent1">
                    <a:lumMod val="50000"/>
                  </a:schemeClr>
                </a:solidFill>
                <a:latin typeface="Calibri" pitchFamily="34" charset="0"/>
              </a:rPr>
              <a:t> Proposed Model Architecture</a:t>
            </a:r>
            <a:endParaRPr lang="en-US" sz="2400" dirty="0">
              <a:solidFill>
                <a:schemeClr val="accent1">
                  <a:lumMod val="50000"/>
                </a:schemeClr>
              </a:solidFill>
              <a:latin typeface="Calibri" pitchFamily="34" charset="0"/>
            </a:endParaRPr>
          </a:p>
        </p:txBody>
      </p:sp>
      <p:pic>
        <p:nvPicPr>
          <p:cNvPr id="33" name="Picture 243"/>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2237662" y="32778884"/>
            <a:ext cx="4487515" cy="1244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43"/>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11689217" y="35794144"/>
            <a:ext cx="5584404" cy="133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420320" y="10597401"/>
            <a:ext cx="13121742" cy="7904088"/>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2423596946"/>
              </p:ext>
            </p:extLst>
          </p:nvPr>
        </p:nvGraphicFramePr>
        <p:xfrm>
          <a:off x="25420320" y="2861087"/>
          <a:ext cx="13121743" cy="7306426"/>
        </p:xfrm>
        <a:graphic>
          <a:graphicData uri="http://schemas.openxmlformats.org/drawingml/2006/table">
            <a:tbl>
              <a:tblPr firstRow="1" firstCol="1" bandRow="1">
                <a:tableStyleId>{5C22544A-7EE6-4342-B048-85BDC9FD1C3A}</a:tableStyleId>
              </a:tblPr>
              <a:tblGrid>
                <a:gridCol w="2240060">
                  <a:extLst>
                    <a:ext uri="{9D8B030D-6E8A-4147-A177-3AD203B41FA5}">
                      <a16:colId xmlns:a16="http://schemas.microsoft.com/office/drawing/2014/main" val="1428462833"/>
                    </a:ext>
                  </a:extLst>
                </a:gridCol>
                <a:gridCol w="1450623">
                  <a:extLst>
                    <a:ext uri="{9D8B030D-6E8A-4147-A177-3AD203B41FA5}">
                      <a16:colId xmlns:a16="http://schemas.microsoft.com/office/drawing/2014/main" val="2938801974"/>
                    </a:ext>
                  </a:extLst>
                </a:gridCol>
                <a:gridCol w="1017020">
                  <a:extLst>
                    <a:ext uri="{9D8B030D-6E8A-4147-A177-3AD203B41FA5}">
                      <a16:colId xmlns:a16="http://schemas.microsoft.com/office/drawing/2014/main" val="965745276"/>
                    </a:ext>
                  </a:extLst>
                </a:gridCol>
                <a:gridCol w="1025546">
                  <a:extLst>
                    <a:ext uri="{9D8B030D-6E8A-4147-A177-3AD203B41FA5}">
                      <a16:colId xmlns:a16="http://schemas.microsoft.com/office/drawing/2014/main" val="2803104386"/>
                    </a:ext>
                  </a:extLst>
                </a:gridCol>
                <a:gridCol w="914709">
                  <a:extLst>
                    <a:ext uri="{9D8B030D-6E8A-4147-A177-3AD203B41FA5}">
                      <a16:colId xmlns:a16="http://schemas.microsoft.com/office/drawing/2014/main" val="590106293"/>
                    </a:ext>
                  </a:extLst>
                </a:gridCol>
                <a:gridCol w="1277669">
                  <a:extLst>
                    <a:ext uri="{9D8B030D-6E8A-4147-A177-3AD203B41FA5}">
                      <a16:colId xmlns:a16="http://schemas.microsoft.com/office/drawing/2014/main" val="723260010"/>
                    </a:ext>
                  </a:extLst>
                </a:gridCol>
                <a:gridCol w="1096453">
                  <a:extLst>
                    <a:ext uri="{9D8B030D-6E8A-4147-A177-3AD203B41FA5}">
                      <a16:colId xmlns:a16="http://schemas.microsoft.com/office/drawing/2014/main" val="1331139389"/>
                    </a:ext>
                  </a:extLst>
                </a:gridCol>
                <a:gridCol w="838200">
                  <a:extLst>
                    <a:ext uri="{9D8B030D-6E8A-4147-A177-3AD203B41FA5}">
                      <a16:colId xmlns:a16="http://schemas.microsoft.com/office/drawing/2014/main" val="1801084166"/>
                    </a:ext>
                  </a:extLst>
                </a:gridCol>
                <a:gridCol w="1143000">
                  <a:extLst>
                    <a:ext uri="{9D8B030D-6E8A-4147-A177-3AD203B41FA5}">
                      <a16:colId xmlns:a16="http://schemas.microsoft.com/office/drawing/2014/main" val="1684973815"/>
                    </a:ext>
                  </a:extLst>
                </a:gridCol>
                <a:gridCol w="2118463">
                  <a:extLst>
                    <a:ext uri="{9D8B030D-6E8A-4147-A177-3AD203B41FA5}">
                      <a16:colId xmlns:a16="http://schemas.microsoft.com/office/drawing/2014/main" val="555922628"/>
                    </a:ext>
                  </a:extLst>
                </a:gridCol>
              </a:tblGrid>
              <a:tr h="1222308">
                <a:tc>
                  <a:txBody>
                    <a:bodyPr/>
                    <a:lstStyle/>
                    <a:p>
                      <a:pPr algn="just">
                        <a:lnSpc>
                          <a:spcPct val="107000"/>
                        </a:lnSpc>
                        <a:spcBef>
                          <a:spcPts val="800"/>
                        </a:spcBef>
                        <a:spcAft>
                          <a:spcPts val="300"/>
                        </a:spcAft>
                      </a:pPr>
                      <a:r>
                        <a:rPr lang="en-US" sz="2000" dirty="0">
                          <a:effectLst/>
                        </a:rPr>
                        <a:t>Model</a:t>
                      </a:r>
                      <a:endParaRPr lang="en-GB"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Number of params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epochs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Total time</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Per epoch time</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optimizer</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Batch size</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Image size</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Learning rate</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accuracy</a:t>
                      </a:r>
                      <a:endParaRPr lang="en-GB" sz="200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310547619"/>
                  </a:ext>
                </a:extLst>
              </a:tr>
              <a:tr h="913303">
                <a:tc>
                  <a:txBody>
                    <a:bodyPr/>
                    <a:lstStyle/>
                    <a:p>
                      <a:pPr algn="just">
                        <a:lnSpc>
                          <a:spcPct val="107000"/>
                        </a:lnSpc>
                        <a:spcBef>
                          <a:spcPts val="800"/>
                        </a:spcBef>
                        <a:spcAft>
                          <a:spcPts val="300"/>
                        </a:spcAft>
                      </a:pPr>
                      <a:r>
                        <a:rPr lang="en-US" sz="2000">
                          <a:effectLst/>
                        </a:rPr>
                        <a:t>VGG19</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20,026,436</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100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01:50-02:00H</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61-63s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dirty="0">
                          <a:effectLst/>
                        </a:rPr>
                        <a:t>Adam</a:t>
                      </a:r>
                      <a:endParaRPr lang="en-GB"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128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0.001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76.97%</a:t>
                      </a:r>
                      <a:endParaRPr lang="en-GB" sz="200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1203684055"/>
                  </a:ext>
                </a:extLst>
              </a:tr>
              <a:tr h="913303">
                <a:tc>
                  <a:txBody>
                    <a:bodyPr/>
                    <a:lstStyle/>
                    <a:p>
                      <a:pPr algn="just">
                        <a:lnSpc>
                          <a:spcPct val="107000"/>
                        </a:lnSpc>
                        <a:spcBef>
                          <a:spcPts val="800"/>
                        </a:spcBef>
                        <a:spcAft>
                          <a:spcPts val="300"/>
                        </a:spcAft>
                      </a:pPr>
                      <a:r>
                        <a:rPr lang="en-US" sz="2000" dirty="0">
                          <a:effectLst/>
                        </a:rPr>
                        <a:t>VGG16</a:t>
                      </a:r>
                      <a:endParaRPr lang="en-GB"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14,716,740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100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01:50-02:00H</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61-63s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Adam</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128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0.001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79.51%</a:t>
                      </a:r>
                      <a:endParaRPr lang="en-GB" sz="200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1094066350"/>
                  </a:ext>
                </a:extLst>
              </a:tr>
              <a:tr h="913303">
                <a:tc>
                  <a:txBody>
                    <a:bodyPr/>
                    <a:lstStyle/>
                    <a:p>
                      <a:pPr algn="just">
                        <a:lnSpc>
                          <a:spcPct val="107000"/>
                        </a:lnSpc>
                        <a:spcBef>
                          <a:spcPts val="800"/>
                        </a:spcBef>
                        <a:spcAft>
                          <a:spcPts val="300"/>
                        </a:spcAft>
                      </a:pPr>
                      <a:r>
                        <a:rPr lang="en-US" sz="2000">
                          <a:effectLst/>
                        </a:rPr>
                        <a:t>ResNet152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58,379,140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100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01:50-02:00H</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61-63s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Adam</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128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0.001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53.39%</a:t>
                      </a:r>
                      <a:endParaRPr lang="en-GB" sz="200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1062228696"/>
                  </a:ext>
                </a:extLst>
              </a:tr>
              <a:tr h="913303">
                <a:tc>
                  <a:txBody>
                    <a:bodyPr/>
                    <a:lstStyle/>
                    <a:p>
                      <a:pPr algn="just">
                        <a:lnSpc>
                          <a:spcPct val="107000"/>
                        </a:lnSpc>
                        <a:spcBef>
                          <a:spcPts val="800"/>
                        </a:spcBef>
                        <a:spcAft>
                          <a:spcPts val="300"/>
                        </a:spcAft>
                      </a:pPr>
                      <a:r>
                        <a:rPr lang="en-US" sz="2000">
                          <a:effectLst/>
                        </a:rPr>
                        <a:t>ResNet50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23,595,908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100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01:50-02:00H</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61-63s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Adam</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128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0.001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67.77%</a:t>
                      </a:r>
                      <a:endParaRPr lang="en-GB" sz="200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3625746537"/>
                  </a:ext>
                </a:extLst>
              </a:tr>
              <a:tr h="913303">
                <a:tc>
                  <a:txBody>
                    <a:bodyPr/>
                    <a:lstStyle/>
                    <a:p>
                      <a:pPr algn="just">
                        <a:lnSpc>
                          <a:spcPct val="107000"/>
                        </a:lnSpc>
                        <a:spcBef>
                          <a:spcPts val="800"/>
                        </a:spcBef>
                        <a:spcAft>
                          <a:spcPts val="300"/>
                        </a:spcAft>
                      </a:pPr>
                      <a:r>
                        <a:rPr lang="en-US" sz="2000">
                          <a:effectLst/>
                        </a:rPr>
                        <a:t>ResNet50V2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23,572,996</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100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01:50-02:00H</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61-63s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Adam</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128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0.001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65.35%</a:t>
                      </a:r>
                      <a:endParaRPr lang="en-GB" sz="200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610931952"/>
                  </a:ext>
                </a:extLst>
              </a:tr>
              <a:tr h="913303">
                <a:tc>
                  <a:txBody>
                    <a:bodyPr/>
                    <a:lstStyle/>
                    <a:p>
                      <a:pPr algn="just">
                        <a:lnSpc>
                          <a:spcPct val="107000"/>
                        </a:lnSpc>
                        <a:spcBef>
                          <a:spcPts val="800"/>
                        </a:spcBef>
                        <a:spcAft>
                          <a:spcPts val="300"/>
                        </a:spcAft>
                      </a:pPr>
                      <a:r>
                        <a:rPr lang="en-US" sz="2000">
                          <a:effectLst/>
                        </a:rPr>
                        <a:t>MobileNet</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3,232,964</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100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01:50-02:00H</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61-63s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Adam</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128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0.001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43.42%</a:t>
                      </a:r>
                      <a:endParaRPr lang="en-GB" sz="200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420216734"/>
                  </a:ext>
                </a:extLst>
              </a:tr>
              <a:tr h="604300">
                <a:tc>
                  <a:txBody>
                    <a:bodyPr/>
                    <a:lstStyle/>
                    <a:p>
                      <a:pPr algn="just">
                        <a:lnSpc>
                          <a:spcPct val="107000"/>
                        </a:lnSpc>
                        <a:spcBef>
                          <a:spcPts val="800"/>
                        </a:spcBef>
                        <a:spcAft>
                          <a:spcPts val="300"/>
                        </a:spcAft>
                      </a:pPr>
                      <a:r>
                        <a:rPr lang="en-US" sz="2000" dirty="0">
                          <a:effectLst/>
                        </a:rPr>
                        <a:t>MCCT</a:t>
                      </a:r>
                      <a:endParaRPr lang="en-GB" sz="2000" dirty="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241,861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100</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18-20m</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11-12s</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Adam</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128</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32</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a:effectLst/>
                        </a:rPr>
                        <a:t>0.001</a:t>
                      </a:r>
                      <a:endParaRPr lang="en-GB" sz="2000">
                        <a:effectLst/>
                        <a:latin typeface="Calibri" panose="020F0502020204030204" pitchFamily="34" charset="0"/>
                        <a:ea typeface="Calibri" panose="020F0502020204030204" pitchFamily="34" charset="0"/>
                        <a:cs typeface="Vrinda"/>
                      </a:endParaRPr>
                    </a:p>
                  </a:txBody>
                  <a:tcPr marL="68580" marR="68580" marT="0" marB="0"/>
                </a:tc>
                <a:tc>
                  <a:txBody>
                    <a:bodyPr/>
                    <a:lstStyle/>
                    <a:p>
                      <a:pPr algn="just">
                        <a:lnSpc>
                          <a:spcPct val="107000"/>
                        </a:lnSpc>
                        <a:spcBef>
                          <a:spcPts val="800"/>
                        </a:spcBef>
                        <a:spcAft>
                          <a:spcPts val="300"/>
                        </a:spcAft>
                      </a:pPr>
                      <a:r>
                        <a:rPr lang="en-US" sz="2000" dirty="0">
                          <a:effectLst/>
                        </a:rPr>
                        <a:t>95.37%</a:t>
                      </a:r>
                      <a:endParaRPr lang="en-GB" sz="2000" dirty="0">
                        <a:effectLst/>
                        <a:latin typeface="Calibri" panose="020F0502020204030204" pitchFamily="34" charset="0"/>
                        <a:ea typeface="Calibri" panose="020F0502020204030204" pitchFamily="34" charset="0"/>
                        <a:cs typeface="Vrinda"/>
                      </a:endParaRPr>
                    </a:p>
                  </a:txBody>
                  <a:tcPr marL="68580" marR="68580" marT="0" marB="0"/>
                </a:tc>
                <a:extLst>
                  <a:ext uri="{0D108BD9-81ED-4DB2-BD59-A6C34878D82A}">
                    <a16:rowId xmlns:a16="http://schemas.microsoft.com/office/drawing/2014/main" val="765095523"/>
                  </a:ext>
                </a:extLst>
              </a:tr>
            </a:tbl>
          </a:graphicData>
        </a:graphic>
      </p:graphicFrame>
      <p:pic>
        <p:nvPicPr>
          <p:cNvPr id="10" name="Picture 9"/>
          <p:cNvPicPr>
            <a:picLocks noChangeAspect="1"/>
          </p:cNvPicPr>
          <p:nvPr/>
        </p:nvPicPr>
        <p:blipFill rotWithShape="1">
          <a:blip r:embed="rId9">
            <a:extLst>
              <a:ext uri="{28A0092B-C50C-407E-A947-70E740481C1C}">
                <a14:useLocalDpi xmlns:a14="http://schemas.microsoft.com/office/drawing/2010/main" val="0"/>
              </a:ext>
            </a:extLst>
          </a:blip>
          <a:srcRect t="31030" b="19275"/>
          <a:stretch/>
        </p:blipFill>
        <p:spPr>
          <a:xfrm>
            <a:off x="1112520" y="2320994"/>
            <a:ext cx="8382000" cy="3124200"/>
          </a:xfrm>
          <a:prstGeom prst="rect">
            <a:avLst/>
          </a:prstGeom>
        </p:spPr>
      </p:pic>
      <p:sp>
        <p:nvSpPr>
          <p:cNvPr id="11" name="TextBox 10"/>
          <p:cNvSpPr txBox="1"/>
          <p:nvPr/>
        </p:nvSpPr>
        <p:spPr>
          <a:xfrm>
            <a:off x="1905000" y="4724400"/>
            <a:ext cx="7086600" cy="584775"/>
          </a:xfrm>
          <a:prstGeom prst="rect">
            <a:avLst/>
          </a:prstGeom>
          <a:noFill/>
        </p:spPr>
        <p:txBody>
          <a:bodyPr wrap="square" rtlCol="0">
            <a:spAutoFit/>
          </a:bodyPr>
          <a:lstStyle/>
          <a:p>
            <a:r>
              <a:rPr lang="en-GB" sz="3200" b="1" dirty="0"/>
              <a:t>Intelligent Systems with Applications</a:t>
            </a:r>
          </a:p>
        </p:txBody>
      </p:sp>
      <p:sp>
        <p:nvSpPr>
          <p:cNvPr id="39" name="Text Box 272"/>
          <p:cNvSpPr txBox="1">
            <a:spLocks noChangeArrowheads="1"/>
          </p:cNvSpPr>
          <p:nvPr/>
        </p:nvSpPr>
        <p:spPr bwMode="auto">
          <a:xfrm>
            <a:off x="25412233" y="2010681"/>
            <a:ext cx="13167361" cy="861774"/>
          </a:xfrm>
          <a:prstGeom prst="rect">
            <a:avLst/>
          </a:prstGeom>
          <a:noFill/>
          <a:ln>
            <a:noFill/>
          </a:ln>
          <a:effectLst/>
        </p:spPr>
        <p:txBody>
          <a:bodyPr wrap="square"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lvl="0" algn="just" defTabSz="4023067" fontAlgn="auto">
              <a:spcBef>
                <a:spcPts val="0"/>
              </a:spcBef>
              <a:spcAft>
                <a:spcPts val="0"/>
              </a:spcAft>
            </a:pPr>
            <a:r>
              <a:rPr lang="en-GB" sz="2800" b="1" dirty="0">
                <a:solidFill>
                  <a:srgbClr val="002060"/>
                </a:solidFill>
                <a:latin typeface="+mn-lt"/>
              </a:rPr>
              <a:t>Table </a:t>
            </a:r>
            <a:r>
              <a:rPr lang="en-GB" sz="2800" b="1" dirty="0" smtClean="0">
                <a:solidFill>
                  <a:srgbClr val="002060"/>
                </a:solidFill>
                <a:latin typeface="+mn-lt"/>
              </a:rPr>
              <a:t>: </a:t>
            </a:r>
            <a:r>
              <a:rPr lang="en-GB" sz="2800" dirty="0">
                <a:solidFill>
                  <a:srgbClr val="002060"/>
                </a:solidFill>
                <a:latin typeface="+mn-lt"/>
              </a:rPr>
              <a:t>Performance comparison with six states of the art transfer learning CNN models</a:t>
            </a:r>
            <a:r>
              <a:rPr lang="en-GB" sz="3200" dirty="0">
                <a:solidFill>
                  <a:srgbClr val="002060"/>
                </a:solidFill>
                <a:latin typeface="+mn-lt"/>
              </a:rPr>
              <a:t>.</a:t>
            </a:r>
            <a:endParaRPr lang="en-GB" sz="3200" dirty="0">
              <a:solidFill>
                <a:srgbClr val="002060"/>
              </a:solidFill>
              <a:latin typeface="+mn-lt"/>
            </a:endParaRPr>
          </a:p>
        </p:txBody>
      </p:sp>
    </p:spTree>
    <p:extLst>
      <p:ext uri="{BB962C8B-B14F-4D97-AF65-F5344CB8AC3E}">
        <p14:creationId xmlns:p14="http://schemas.microsoft.com/office/powerpoint/2010/main" val="36304458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11425</TotalTime>
  <Words>1619</Words>
  <Application>Microsoft Office PowerPoint</Application>
  <PresentationFormat>Custom</PresentationFormat>
  <Paragraphs>121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Vrinda</vt:lpstr>
      <vt:lpstr>Office Theme</vt:lpstr>
      <vt:lpstr>An Effective Approach to Address Processing Time and Computational Complexity Employing Modified CCT for Lung Disease Classification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44x44</dc:title>
  <dc:creator>Genigraphics 800.790.4001</dc:creator>
  <cp:lastModifiedBy>Maruf</cp:lastModifiedBy>
  <cp:revision>41</cp:revision>
  <dcterms:created xsi:type="dcterms:W3CDTF">2015-03-16T19:12:58Z</dcterms:created>
  <dcterms:modified xsi:type="dcterms:W3CDTF">2022-10-25T13:33:40Z</dcterms:modified>
</cp:coreProperties>
</file>